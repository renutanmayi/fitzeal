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61" r:id="rId3"/>
    <p:sldId id="266" r:id="rId4"/>
    <p:sldId id="270" r:id="rId5"/>
    <p:sldId id="272" r:id="rId6"/>
    <p:sldId id="271" r:id="rId7"/>
    <p:sldId id="262" r:id="rId8"/>
    <p:sldId id="263" r:id="rId9"/>
    <p:sldId id="273" r:id="rId10"/>
    <p:sldId id="275" r:id="rId11"/>
    <p:sldId id="268" r:id="rId12"/>
    <p:sldId id="274" r:id="rId13"/>
    <p:sldId id="264" r:id="rId14"/>
    <p:sldId id="267" r:id="rId15"/>
    <p:sldId id="269" r:id="rId16"/>
    <p:sldId id="25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11B462-9B87-40E5-8EA7-8E628515B7EC}" v="65" dt="2024-11-22T06:01:04.6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p:scale>
          <a:sx n="82" d="100"/>
          <a:sy n="82" d="100"/>
        </p:scale>
        <p:origin x="1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58992D-1075-4A38-B5EE-4B11A7DDFF38}" type="datetimeFigureOut">
              <a:rPr lang="en-IN" smtClean="0"/>
              <a:t>22-11-2024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19D1EA-B454-4F1F-8608-0B4C02C6AE6F}" type="slidenum">
              <a:rPr lang="en-IN" smtClean="0"/>
              <a:t>‹#›</a:t>
            </a:fld>
            <a:endParaRPr lang="en-IN"/>
          </a:p>
        </p:txBody>
      </p:sp>
    </p:spTree>
    <p:extLst>
      <p:ext uri="{BB962C8B-B14F-4D97-AF65-F5344CB8AC3E}">
        <p14:creationId xmlns:p14="http://schemas.microsoft.com/office/powerpoint/2010/main" val="498874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Fit+Zeal</a:t>
            </a:r>
            <a:r>
              <a:rPr lang="en-US"/>
              <a:t> (enthusiasm)- People may have the will to stay fit, but they often give up halfway. We derived this website’s name by blending the words fit and zeal. ‘Zeal’ means enthusiasm in pursuit of an objective or a cause. So </a:t>
            </a:r>
            <a:r>
              <a:rPr lang="en-US" err="1"/>
              <a:t>FitZeal</a:t>
            </a:r>
            <a:r>
              <a:rPr lang="en-US"/>
              <a:t> is a platform which will provide users the zeal for fitness due to its interactive nature.</a:t>
            </a:r>
            <a:endParaRPr lang="en-IN"/>
          </a:p>
        </p:txBody>
      </p:sp>
      <p:sp>
        <p:nvSpPr>
          <p:cNvPr id="4" name="Slide Number Placeholder 3"/>
          <p:cNvSpPr>
            <a:spLocks noGrp="1"/>
          </p:cNvSpPr>
          <p:nvPr>
            <p:ph type="sldNum" sz="quarter" idx="5"/>
          </p:nvPr>
        </p:nvSpPr>
        <p:spPr/>
        <p:txBody>
          <a:bodyPr/>
          <a:lstStyle/>
          <a:p>
            <a:fld id="{BD19D1EA-B454-4F1F-8608-0B4C02C6AE6F}" type="slidenum">
              <a:rPr lang="en-IN" smtClean="0"/>
              <a:t>1</a:t>
            </a:fld>
            <a:endParaRPr lang="en-IN"/>
          </a:p>
        </p:txBody>
      </p:sp>
    </p:spTree>
    <p:extLst>
      <p:ext uri="{BB962C8B-B14F-4D97-AF65-F5344CB8AC3E}">
        <p14:creationId xmlns:p14="http://schemas.microsoft.com/office/powerpoint/2010/main" val="3919122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D19D1EA-B454-4F1F-8608-0B4C02C6AE6F}" type="slidenum">
              <a:rPr lang="en-IN" smtClean="0"/>
              <a:t>7</a:t>
            </a:fld>
            <a:endParaRPr lang="en-IN"/>
          </a:p>
        </p:txBody>
      </p:sp>
    </p:spTree>
    <p:extLst>
      <p:ext uri="{BB962C8B-B14F-4D97-AF65-F5344CB8AC3E}">
        <p14:creationId xmlns:p14="http://schemas.microsoft.com/office/powerpoint/2010/main" val="2808199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11/22/2024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C9CA7B-DFD4-44B5-8C60-D14B8CD1FB59}" type="datetimeFigureOut">
              <a:rPr lang="en-US" dirty="0"/>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11/22/2024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DB8791-F1B0-41E7-B7FD-A781E65C4266}" type="datetimeFigureOut">
              <a:rPr lang="en-US" dirty="0"/>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DD63B2-E120-4ED8-B27B-C685F510A5FE}" type="datetimeFigureOut">
              <a:rPr lang="en-US" dirty="0"/>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AA18ACC-A947-437B-A130-35BD54FDF1E9}" type="datetimeFigureOut">
              <a:rPr lang="en-US" dirty="0"/>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11/22/2024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11/22/2024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11/22/2024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11/22/2024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11/22/2024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11/22/2024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11/22/2024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11/22/2024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11/22/2024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11/22/2024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myfitnesspal.com/" TargetMode="External"/><Relationship Id="rId7" Type="http://schemas.openxmlformats.org/officeDocument/2006/relationships/image" Target="../media/image20.jpeg"/><Relationship Id="rId2" Type="http://schemas.openxmlformats.org/officeDocument/2006/relationships/hyperlink" Target="https://community.fitbit.com/t5/Manage-Weight/Success-Stories/td-p/160007" TargetMode="Externa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hyperlink" Target="https://www.researchgate.net/publication/333777044_Calorie_counting_smart_phone_apps_Effectiveness_in_nutritional_awareness_lifestyle_modification_and_weight_management_among_young_Indian_adults" TargetMode="External"/><Relationship Id="rId4" Type="http://schemas.openxmlformats.org/officeDocument/2006/relationships/hyperlink" Target="https://www.sciencedirect.com/science/article/abs/pii/S0378720623000447#:~:text=We%20show%20that%20personal%2Doriented,outcomes%20in%20a%20nuanced%20manner."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0C009D-4FB5-0D49-AE71-5EAAAA1D6C36}"/>
              </a:ext>
            </a:extLst>
          </p:cNvPr>
          <p:cNvSpPr txBox="1"/>
          <p:nvPr/>
        </p:nvSpPr>
        <p:spPr>
          <a:xfrm>
            <a:off x="1030798" y="4510466"/>
            <a:ext cx="35422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chemeClr val="bg1"/>
                </a:solidFill>
              </a:rPr>
              <a:t>23071A6774- B. Renu </a:t>
            </a:r>
            <a:r>
              <a:rPr lang="en-GB" b="1" dirty="0" err="1">
                <a:solidFill>
                  <a:schemeClr val="bg1"/>
                </a:solidFill>
              </a:rPr>
              <a:t>Tanmayi</a:t>
            </a:r>
            <a:endParaRPr lang="en-US" b="1" dirty="0">
              <a:solidFill>
                <a:schemeClr val="bg1"/>
              </a:solidFill>
            </a:endParaRPr>
          </a:p>
          <a:p>
            <a:r>
              <a:rPr lang="en-GB" b="1" dirty="0">
                <a:solidFill>
                  <a:schemeClr val="bg1"/>
                </a:solidFill>
              </a:rPr>
              <a:t>23071A67A5- M. Meghana</a:t>
            </a:r>
          </a:p>
          <a:p>
            <a:r>
              <a:rPr lang="en-GB" b="1" dirty="0">
                <a:solidFill>
                  <a:schemeClr val="bg1"/>
                </a:solidFill>
              </a:rPr>
              <a:t>23071A67B4- S. Nithya</a:t>
            </a:r>
          </a:p>
        </p:txBody>
      </p:sp>
      <p:sp>
        <p:nvSpPr>
          <p:cNvPr id="2" name="Title 1">
            <a:extLst>
              <a:ext uri="{FF2B5EF4-FFF2-40B4-BE49-F238E27FC236}">
                <a16:creationId xmlns:a16="http://schemas.microsoft.com/office/drawing/2014/main" id="{E7A74AD5-7A43-9543-5A75-873B36AE7A42}"/>
              </a:ext>
            </a:extLst>
          </p:cNvPr>
          <p:cNvSpPr>
            <a:spLocks noGrp="1"/>
          </p:cNvSpPr>
          <p:nvPr>
            <p:ph type="ctrTitle"/>
          </p:nvPr>
        </p:nvSpPr>
        <p:spPr>
          <a:xfrm>
            <a:off x="863649" y="1936933"/>
            <a:ext cx="4199964" cy="1297381"/>
          </a:xfrm>
        </p:spPr>
        <p:txBody>
          <a:bodyPr/>
          <a:lstStyle/>
          <a:p>
            <a:r>
              <a:rPr lang="en-US" sz="7200" b="1">
                <a:latin typeface="Lucida Handwriting" panose="03010101010101010101" pitchFamily="66" charset="0"/>
              </a:rPr>
              <a:t>FitZeal</a:t>
            </a:r>
            <a:endParaRPr lang="en-IN" sz="7200" b="1">
              <a:latin typeface="Lucida Handwriting" panose="03010101010101010101" pitchFamily="66" charset="0"/>
            </a:endParaRPr>
          </a:p>
        </p:txBody>
      </p:sp>
      <p:sp>
        <p:nvSpPr>
          <p:cNvPr id="3" name="Subtitle 2">
            <a:extLst>
              <a:ext uri="{FF2B5EF4-FFF2-40B4-BE49-F238E27FC236}">
                <a16:creationId xmlns:a16="http://schemas.microsoft.com/office/drawing/2014/main" id="{9670298D-996D-C5D6-1B79-1CE71F932546}"/>
              </a:ext>
            </a:extLst>
          </p:cNvPr>
          <p:cNvSpPr>
            <a:spLocks noGrp="1"/>
          </p:cNvSpPr>
          <p:nvPr>
            <p:ph type="subTitle" idx="1"/>
          </p:nvPr>
        </p:nvSpPr>
        <p:spPr>
          <a:xfrm>
            <a:off x="863649" y="3294868"/>
            <a:ext cx="8825658" cy="861420"/>
          </a:xfrm>
        </p:spPr>
        <p:txBody>
          <a:bodyPr>
            <a:normAutofit fontScale="77500" lnSpcReduction="20000"/>
          </a:bodyPr>
          <a:lstStyle/>
          <a:p>
            <a:r>
              <a:rPr lang="en-US" sz="3200" b="1"/>
              <a:t> Your personalized</a:t>
            </a:r>
          </a:p>
          <a:p>
            <a:r>
              <a:rPr lang="en-US" sz="3200" b="1"/>
              <a:t> Health Tracker</a:t>
            </a:r>
            <a:endParaRPr lang="en-IN" sz="3200" b="1"/>
          </a:p>
        </p:txBody>
      </p:sp>
      <p:pic>
        <p:nvPicPr>
          <p:cNvPr id="1028" name="Picture 4" descr="Free Vector | Online personal trainer">
            <a:extLst>
              <a:ext uri="{FF2B5EF4-FFF2-40B4-BE49-F238E27FC236}">
                <a16:creationId xmlns:a16="http://schemas.microsoft.com/office/drawing/2014/main" id="{A7395102-A60E-53F6-8D7A-F73975A98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744" y="1484671"/>
            <a:ext cx="5651187" cy="376444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TextBox 3">
            <a:extLst>
              <a:ext uri="{FF2B5EF4-FFF2-40B4-BE49-F238E27FC236}">
                <a16:creationId xmlns:a16="http://schemas.microsoft.com/office/drawing/2014/main" id="{4CA2977C-5201-0430-8F27-6CB9C2A49DFC}"/>
              </a:ext>
            </a:extLst>
          </p:cNvPr>
          <p:cNvSpPr txBox="1"/>
          <p:nvPr/>
        </p:nvSpPr>
        <p:spPr>
          <a:xfrm>
            <a:off x="9152952" y="1752944"/>
            <a:ext cx="1248696" cy="540774"/>
          </a:xfrm>
          <a:prstGeom prst="rect">
            <a:avLst/>
          </a:prstGeom>
          <a:solidFill>
            <a:schemeClr val="bg1"/>
          </a:solidFill>
        </p:spPr>
        <p:txBody>
          <a:bodyPr wrap="square" rtlCol="0">
            <a:spAutoFit/>
          </a:bodyPr>
          <a:lstStyle/>
          <a:p>
            <a:endParaRPr lang="en-IN"/>
          </a:p>
        </p:txBody>
      </p:sp>
      <p:sp>
        <p:nvSpPr>
          <p:cNvPr id="6" name="TextBox 5">
            <a:extLst>
              <a:ext uri="{FF2B5EF4-FFF2-40B4-BE49-F238E27FC236}">
                <a16:creationId xmlns:a16="http://schemas.microsoft.com/office/drawing/2014/main" id="{D9EA1701-CD48-BF21-B259-7D85CFBDD2F0}"/>
              </a:ext>
            </a:extLst>
          </p:cNvPr>
          <p:cNvSpPr txBox="1"/>
          <p:nvPr/>
        </p:nvSpPr>
        <p:spPr>
          <a:xfrm>
            <a:off x="8489216" y="5603939"/>
            <a:ext cx="25761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a:solidFill>
                  <a:schemeClr val="bg1"/>
                </a:solidFill>
              </a:rPr>
              <a:t>Project Coordinator:</a:t>
            </a:r>
          </a:p>
          <a:p>
            <a:pPr algn="ctr"/>
            <a:r>
              <a:rPr lang="en-GB" b="1">
                <a:solidFill>
                  <a:schemeClr val="bg1"/>
                </a:solidFill>
              </a:rPr>
              <a:t>Mr. R. Sravan</a:t>
            </a:r>
          </a:p>
        </p:txBody>
      </p:sp>
      <p:sp>
        <p:nvSpPr>
          <p:cNvPr id="7" name="TextBox 6">
            <a:extLst>
              <a:ext uri="{FF2B5EF4-FFF2-40B4-BE49-F238E27FC236}">
                <a16:creationId xmlns:a16="http://schemas.microsoft.com/office/drawing/2014/main" id="{CD081864-C90C-9D9A-BF1F-DE8AC809D0CD}"/>
              </a:ext>
            </a:extLst>
          </p:cNvPr>
          <p:cNvSpPr txBox="1"/>
          <p:nvPr/>
        </p:nvSpPr>
        <p:spPr>
          <a:xfrm>
            <a:off x="1030798" y="1097287"/>
            <a:ext cx="3767345" cy="461665"/>
          </a:xfrm>
          <a:prstGeom prst="rect">
            <a:avLst/>
          </a:prstGeom>
          <a:noFill/>
        </p:spPr>
        <p:txBody>
          <a:bodyPr wrap="square" rtlCol="0">
            <a:spAutoFit/>
          </a:bodyPr>
          <a:lstStyle/>
          <a:p>
            <a:r>
              <a:rPr lang="en-US" sz="2400">
                <a:solidFill>
                  <a:schemeClr val="bg1"/>
                </a:solidFill>
              </a:rPr>
              <a:t>Field Project review on</a:t>
            </a:r>
            <a:endParaRPr lang="en-IN" sz="2400">
              <a:solidFill>
                <a:schemeClr val="bg1"/>
              </a:solidFill>
            </a:endParaRPr>
          </a:p>
        </p:txBody>
      </p:sp>
      <p:pic>
        <p:nvPicPr>
          <p:cNvPr id="1026" name="Picture 2" descr="VNRVJIET - YouTube">
            <a:extLst>
              <a:ext uri="{FF2B5EF4-FFF2-40B4-BE49-F238E27FC236}">
                <a16:creationId xmlns:a16="http://schemas.microsoft.com/office/drawing/2014/main" id="{562C7B8A-8778-661D-A3B2-5B1CED8E66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 y="0"/>
            <a:ext cx="862923" cy="862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59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inVertical)">
                                      <p:cBhvr>
                                        <p:cTn id="13" dur="500"/>
                                        <p:tgtEl>
                                          <p:spTgt spid="3">
                                            <p:txEl>
                                              <p:pRg st="0" end="0"/>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arn(inVertical)">
                                      <p:cBhvr>
                                        <p:cTn id="16" dur="500"/>
                                        <p:tgtEl>
                                          <p:spTgt spid="3">
                                            <p:txEl>
                                              <p:pRg st="1" end="1"/>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1028"/>
                                        </p:tgtEl>
                                        <p:attrNameLst>
                                          <p:attrName>style.visibility</p:attrName>
                                        </p:attrNameLst>
                                      </p:cBhvr>
                                      <p:to>
                                        <p:strVal val="visible"/>
                                      </p:to>
                                    </p:set>
                                    <p:animEffect transition="in" filter="randombar(horizontal)">
                                      <p:cBhvr>
                                        <p:cTn id="19" dur="500"/>
                                        <p:tgtEl>
                                          <p:spTgt spid="1028"/>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randombar(horizontal)">
                                      <p:cBhvr>
                                        <p:cTn id="22" dur="500"/>
                                        <p:tgtEl>
                                          <p:spTgt spid="4"/>
                                        </p:tgtEl>
                                      </p:cBhvr>
                                    </p:animEffect>
                                  </p:childTnLst>
                                </p:cTn>
                              </p:par>
                              <p:par>
                                <p:cTn id="23" presetID="1" presetClass="entr" presetSubtype="0" fill="hold"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0" name="Rectangle 19">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0"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31" name="Rectangle 3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pSp>
        <p:nvGrpSpPr>
          <p:cNvPr id="32" name="Group 31">
            <a:extLst>
              <a:ext uri="{FF2B5EF4-FFF2-40B4-BE49-F238E27FC236}">
                <a16:creationId xmlns:a16="http://schemas.microsoft.com/office/drawing/2014/main" id="{5F72ECA3-2A46-4A5A-8330-12F7E22105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26" name="Rectangle 25">
              <a:extLst>
                <a:ext uri="{FF2B5EF4-FFF2-40B4-BE49-F238E27FC236}">
                  <a16:creationId xmlns:a16="http://schemas.microsoft.com/office/drawing/2014/main" id="{2A4A5C4D-76C1-47EA-A0B6-CF294A5F4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7" name="Freeform 5">
              <a:extLst>
                <a:ext uri="{FF2B5EF4-FFF2-40B4-BE49-F238E27FC236}">
                  <a16:creationId xmlns:a16="http://schemas.microsoft.com/office/drawing/2014/main" id="{29BC618C-AD3C-444D-B8CB-6FB6920D48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IN"/>
            </a:p>
          </p:txBody>
        </p:sp>
      </p:grpSp>
      <p:sp>
        <p:nvSpPr>
          <p:cNvPr id="2" name="Title 1">
            <a:extLst>
              <a:ext uri="{FF2B5EF4-FFF2-40B4-BE49-F238E27FC236}">
                <a16:creationId xmlns:a16="http://schemas.microsoft.com/office/drawing/2014/main" id="{C755194A-DDF6-3FEA-D23D-ED5960A47974}"/>
              </a:ext>
            </a:extLst>
          </p:cNvPr>
          <p:cNvSpPr>
            <a:spLocks noGrp="1"/>
          </p:cNvSpPr>
          <p:nvPr>
            <p:ph type="title"/>
          </p:nvPr>
        </p:nvSpPr>
        <p:spPr>
          <a:xfrm>
            <a:off x="773420" y="685443"/>
            <a:ext cx="4469375" cy="713773"/>
          </a:xfrm>
        </p:spPr>
        <p:txBody>
          <a:bodyPr vert="horz" lIns="91440" tIns="45720" rIns="91440" bIns="45720" rtlCol="0" anchor="t">
            <a:normAutofit/>
          </a:bodyPr>
          <a:lstStyle/>
          <a:p>
            <a:r>
              <a:rPr lang="en-US" sz="2800" b="1" dirty="0">
                <a:solidFill>
                  <a:schemeClr val="tx1"/>
                </a:solidFill>
              </a:rPr>
              <a:t>ABSTRACT</a:t>
            </a:r>
          </a:p>
        </p:txBody>
      </p:sp>
      <p:sp>
        <p:nvSpPr>
          <p:cNvPr id="29" name="Rectangle 28">
            <a:extLst>
              <a:ext uri="{FF2B5EF4-FFF2-40B4-BE49-F238E27FC236}">
                <a16:creationId xmlns:a16="http://schemas.microsoft.com/office/drawing/2014/main" id="{029C0D00-401D-42B7-94D8-008C7DAA8E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TextBox 2">
            <a:extLst>
              <a:ext uri="{FF2B5EF4-FFF2-40B4-BE49-F238E27FC236}">
                <a16:creationId xmlns:a16="http://schemas.microsoft.com/office/drawing/2014/main" id="{1004C4D7-A69E-9B33-8745-E0DB8E18410D}"/>
              </a:ext>
            </a:extLst>
          </p:cNvPr>
          <p:cNvSpPr txBox="1"/>
          <p:nvPr/>
        </p:nvSpPr>
        <p:spPr>
          <a:xfrm>
            <a:off x="773420" y="1294170"/>
            <a:ext cx="6295973" cy="4878387"/>
          </a:xfrm>
          <a:prstGeom prst="rect">
            <a:avLst/>
          </a:prstGeom>
          <a:noFill/>
        </p:spPr>
        <p:txBody>
          <a:bodyPr wrap="square" lIns="91440" tIns="45720" rIns="91440" bIns="45720" rtlCol="0" anchor="t">
            <a:spAutoFit/>
          </a:bodyPr>
          <a:lstStyle/>
          <a:p>
            <a:pPr marL="342900" indent="-342900">
              <a:lnSpc>
                <a:spcPct val="150000"/>
              </a:lnSpc>
              <a:buFont typeface="Arial" panose="020B0604020202020204" pitchFamily="34" charset="0"/>
              <a:buChar char="•"/>
            </a:pPr>
            <a:r>
              <a:rPr lang="en-IN" sz="2100" dirty="0">
                <a:ea typeface="+mn-lt"/>
                <a:cs typeface="+mn-lt"/>
              </a:rPr>
              <a:t>Track water intake, sleep, and meals daily.</a:t>
            </a:r>
            <a:endParaRPr lang="en-US" sz="2100" dirty="0"/>
          </a:p>
          <a:p>
            <a:pPr marL="342900" indent="-342900">
              <a:lnSpc>
                <a:spcPct val="150000"/>
              </a:lnSpc>
              <a:buFont typeface="Arial" panose="020B0604020202020204" pitchFamily="34" charset="0"/>
              <a:buChar char="•"/>
            </a:pPr>
            <a:r>
              <a:rPr lang="en-IN" sz="2100" dirty="0">
                <a:ea typeface="+mn-lt"/>
                <a:cs typeface="+mn-lt"/>
              </a:rPr>
              <a:t>Calculate calories based on user input.</a:t>
            </a:r>
            <a:endParaRPr lang="en-IN" sz="2100" dirty="0"/>
          </a:p>
          <a:p>
            <a:pPr marL="342900" indent="-342900">
              <a:lnSpc>
                <a:spcPct val="150000"/>
              </a:lnSpc>
              <a:buFont typeface="Arial" panose="020B0604020202020204" pitchFamily="34" charset="0"/>
              <a:buChar char="•"/>
            </a:pPr>
            <a:r>
              <a:rPr lang="en-IN" sz="2100" dirty="0">
                <a:ea typeface="+mn-lt"/>
                <a:cs typeface="+mn-lt"/>
              </a:rPr>
              <a:t>Get personalized exercise recommendations instantly.</a:t>
            </a:r>
            <a:endParaRPr lang="en-IN" sz="2100" dirty="0"/>
          </a:p>
          <a:p>
            <a:pPr marL="342900" indent="-342900">
              <a:lnSpc>
                <a:spcPct val="150000"/>
              </a:lnSpc>
              <a:buFont typeface="Arial" panose="020B0604020202020204" pitchFamily="34" charset="0"/>
              <a:buChar char="•"/>
            </a:pPr>
            <a:r>
              <a:rPr lang="en-IN" sz="2100" dirty="0">
                <a:ea typeface="+mn-lt"/>
                <a:cs typeface="+mn-lt"/>
              </a:rPr>
              <a:t>Suggest healthy recipes using available ingredients.</a:t>
            </a:r>
            <a:endParaRPr lang="en-IN" sz="2100" dirty="0"/>
          </a:p>
          <a:p>
            <a:pPr marL="342900" indent="-342900">
              <a:lnSpc>
                <a:spcPct val="150000"/>
              </a:lnSpc>
              <a:buFont typeface="Arial" panose="020B0604020202020204" pitchFamily="34" charset="0"/>
              <a:buChar char="•"/>
            </a:pPr>
            <a:r>
              <a:rPr lang="en-IN" sz="2100" dirty="0">
                <a:ea typeface="+mn-lt"/>
                <a:cs typeface="+mn-lt"/>
              </a:rPr>
              <a:t>Easy-to-use, interactive, and engaging interface.</a:t>
            </a:r>
            <a:endParaRPr lang="en-IN" sz="2100" dirty="0"/>
          </a:p>
          <a:p>
            <a:pPr marL="342900" indent="-342900">
              <a:lnSpc>
                <a:spcPct val="150000"/>
              </a:lnSpc>
              <a:buFont typeface="Arial" panose="020B0604020202020204" pitchFamily="34" charset="0"/>
              <a:buChar char="•"/>
            </a:pPr>
            <a:r>
              <a:rPr lang="en-IN" sz="2100" dirty="0">
                <a:ea typeface="+mn-lt"/>
                <a:cs typeface="+mn-lt"/>
              </a:rPr>
              <a:t>A holistic health management tool for everyone.</a:t>
            </a:r>
            <a:endParaRPr lang="en-IN" sz="2100" dirty="0"/>
          </a:p>
        </p:txBody>
      </p:sp>
      <p:pic>
        <p:nvPicPr>
          <p:cNvPr id="3074" name="Picture 2" descr="Free Vector | Online personal trainer concept">
            <a:extLst>
              <a:ext uri="{FF2B5EF4-FFF2-40B4-BE49-F238E27FC236}">
                <a16:creationId xmlns:a16="http://schemas.microsoft.com/office/drawing/2014/main" id="{841780CA-5C69-36D4-4126-D8702AF5B1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5094" y="1526941"/>
            <a:ext cx="3959460" cy="3959460"/>
          </a:xfrm>
          <a:prstGeom prst="snip2DiagRect">
            <a:avLst>
              <a:gd name="adj1" fmla="val 0"/>
              <a:gd name="adj2" fmla="val 1639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719050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000"/>
                                        <p:tgtEl>
                                          <p:spTgt spid="3074"/>
                                        </p:tgtEl>
                                      </p:cBhvr>
                                    </p:animEffect>
                                    <p:anim calcmode="lin" valueType="num">
                                      <p:cBhvr>
                                        <p:cTn id="8" dur="1000" fill="hold"/>
                                        <p:tgtEl>
                                          <p:spTgt spid="3074"/>
                                        </p:tgtEl>
                                        <p:attrNameLst>
                                          <p:attrName>ppt_x</p:attrName>
                                        </p:attrNameLst>
                                      </p:cBhvr>
                                      <p:tavLst>
                                        <p:tav tm="0">
                                          <p:val>
                                            <p:strVal val="#ppt_x"/>
                                          </p:val>
                                        </p:tav>
                                        <p:tav tm="100000">
                                          <p:val>
                                            <p:strVal val="#ppt_x"/>
                                          </p:val>
                                        </p:tav>
                                      </p:tavLst>
                                    </p:anim>
                                    <p:anim calcmode="lin" valueType="num">
                                      <p:cBhvr>
                                        <p:cTn id="9"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par>
                                <p:cTn id="15" presetID="16" presetClass="entr" presetSubtype="21"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arn(inVertical)">
                                      <p:cBhvr>
                                        <p:cTn id="20" dur="500"/>
                                        <p:tgtEl>
                                          <p:spTgt spid="3">
                                            <p:txEl>
                                              <p:pRg st="2" end="2"/>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barn(inVertical)">
                                      <p:cBhvr>
                                        <p:cTn id="23" dur="500"/>
                                        <p:tgtEl>
                                          <p:spTgt spid="3">
                                            <p:txEl>
                                              <p:pRg st="3" end="3"/>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barn(inVertical)">
                                      <p:cBhvr>
                                        <p:cTn id="26" dur="500"/>
                                        <p:tgtEl>
                                          <p:spTgt spid="3">
                                            <p:txEl>
                                              <p:pRg st="4" end="4"/>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barn(inVertical)">
                                      <p:cBhvr>
                                        <p:cTn id="2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6AA98B-7685-E19C-EF7A-83FFA70BBBA6}"/>
              </a:ext>
            </a:extLst>
          </p:cNvPr>
          <p:cNvSpPr txBox="1"/>
          <p:nvPr/>
        </p:nvSpPr>
        <p:spPr>
          <a:xfrm>
            <a:off x="757084" y="724817"/>
            <a:ext cx="3106994" cy="523220"/>
          </a:xfrm>
          <a:prstGeom prst="rect">
            <a:avLst/>
          </a:prstGeom>
          <a:noFill/>
        </p:spPr>
        <p:txBody>
          <a:bodyPr wrap="square">
            <a:spAutoFit/>
          </a:bodyPr>
          <a:lstStyle/>
          <a:p>
            <a:r>
              <a:rPr lang="en-US" sz="2800" b="1" dirty="0">
                <a:solidFill>
                  <a:schemeClr val="bg1"/>
                </a:solidFill>
                <a:latin typeface="+mj-lt"/>
              </a:rPr>
              <a:t>INTRODUCTION</a:t>
            </a:r>
            <a:endParaRPr lang="en-IN" sz="2800" dirty="0">
              <a:solidFill>
                <a:schemeClr val="bg1"/>
              </a:solidFill>
              <a:latin typeface="+mj-lt"/>
            </a:endParaRPr>
          </a:p>
        </p:txBody>
      </p:sp>
      <p:sp>
        <p:nvSpPr>
          <p:cNvPr id="4" name="Rectangle 2">
            <a:extLst>
              <a:ext uri="{FF2B5EF4-FFF2-40B4-BE49-F238E27FC236}">
                <a16:creationId xmlns:a16="http://schemas.microsoft.com/office/drawing/2014/main" id="{E9EF188F-A29A-2D55-682A-B79FF898BF21}"/>
              </a:ext>
            </a:extLst>
          </p:cNvPr>
          <p:cNvSpPr>
            <a:spLocks noChangeArrowheads="1"/>
          </p:cNvSpPr>
          <p:nvPr/>
        </p:nvSpPr>
        <p:spPr bwMode="auto">
          <a:xfrm>
            <a:off x="757084" y="1193163"/>
            <a:ext cx="7472516" cy="4471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Combines multiple health tracking features into a single, user-friendly platform.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Focuses on habit formation rather than short-term tracking.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Prioritizes actionable insights to help users achieve holistic wellness.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Ensures data security and efficient management for a seamless experience.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Employs a future-ready design with room for feature expansion.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rPr>
              <a:t>Encourages proactive health awareness through personalized suggestions. </a:t>
            </a:r>
          </a:p>
        </p:txBody>
      </p:sp>
      <p:pic>
        <p:nvPicPr>
          <p:cNvPr id="2054" name="Picture 6" descr="Character Fitness Animation :: Behance">
            <a:extLst>
              <a:ext uri="{FF2B5EF4-FFF2-40B4-BE49-F238E27FC236}">
                <a16:creationId xmlns:a16="http://schemas.microsoft.com/office/drawing/2014/main" id="{4174A9FD-7F74-8941-19D3-EAB9BD9C2E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301" y="1193163"/>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7404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a:extLst>
            <a:ext uri="{FF2B5EF4-FFF2-40B4-BE49-F238E27FC236}">
              <a16:creationId xmlns:a16="http://schemas.microsoft.com/office/drawing/2014/main" id="{D3E083A8-FF9B-AA22-A6F8-D020228C1B10}"/>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733D93DD-46A2-239B-B2F3-33658C4AC9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0" name="Rectangle 19">
              <a:extLst>
                <a:ext uri="{FF2B5EF4-FFF2-40B4-BE49-F238E27FC236}">
                  <a16:creationId xmlns:a16="http://schemas.microsoft.com/office/drawing/2014/main" id="{A29FCBBA-89C5-D703-4E98-5663B9193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0" name="Freeform 5">
              <a:extLst>
                <a:ext uri="{FF2B5EF4-FFF2-40B4-BE49-F238E27FC236}">
                  <a16:creationId xmlns:a16="http://schemas.microsoft.com/office/drawing/2014/main" id="{AC2B266E-5B9B-D591-FF43-1ACBB2E906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31" name="Rectangle 30">
            <a:extLst>
              <a:ext uri="{FF2B5EF4-FFF2-40B4-BE49-F238E27FC236}">
                <a16:creationId xmlns:a16="http://schemas.microsoft.com/office/drawing/2014/main" id="{21AE9C8A-FFEF-8F62-B82E-0FFBD827A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pSp>
        <p:nvGrpSpPr>
          <p:cNvPr id="32" name="Group 31">
            <a:extLst>
              <a:ext uri="{FF2B5EF4-FFF2-40B4-BE49-F238E27FC236}">
                <a16:creationId xmlns:a16="http://schemas.microsoft.com/office/drawing/2014/main" id="{ABCB8670-8005-3452-F998-DCAB85037A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26" name="Rectangle 25">
              <a:extLst>
                <a:ext uri="{FF2B5EF4-FFF2-40B4-BE49-F238E27FC236}">
                  <a16:creationId xmlns:a16="http://schemas.microsoft.com/office/drawing/2014/main" id="{EDAB2B61-95D1-2ED7-3A26-1021EA2C6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7" name="Freeform 5">
              <a:extLst>
                <a:ext uri="{FF2B5EF4-FFF2-40B4-BE49-F238E27FC236}">
                  <a16:creationId xmlns:a16="http://schemas.microsoft.com/office/drawing/2014/main" id="{B307537D-34FA-135D-0F1D-9AF1A348D2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IN"/>
            </a:p>
          </p:txBody>
        </p:sp>
      </p:grpSp>
      <p:sp>
        <p:nvSpPr>
          <p:cNvPr id="2" name="Title 1">
            <a:extLst>
              <a:ext uri="{FF2B5EF4-FFF2-40B4-BE49-F238E27FC236}">
                <a16:creationId xmlns:a16="http://schemas.microsoft.com/office/drawing/2014/main" id="{3817BBE2-3512-065B-8D1D-611047BE794D}"/>
              </a:ext>
            </a:extLst>
          </p:cNvPr>
          <p:cNvSpPr>
            <a:spLocks noGrp="1"/>
          </p:cNvSpPr>
          <p:nvPr>
            <p:ph type="title"/>
          </p:nvPr>
        </p:nvSpPr>
        <p:spPr>
          <a:xfrm>
            <a:off x="677655" y="495237"/>
            <a:ext cx="4469375" cy="584435"/>
          </a:xfrm>
        </p:spPr>
        <p:txBody>
          <a:bodyPr vert="horz" lIns="91440" tIns="45720" rIns="91440" bIns="45720" rtlCol="0" anchor="t">
            <a:normAutofit/>
          </a:bodyPr>
          <a:lstStyle/>
          <a:p>
            <a:r>
              <a:rPr lang="en-US" sz="2800" b="1" dirty="0">
                <a:solidFill>
                  <a:schemeClr val="tx1"/>
                </a:solidFill>
              </a:rPr>
              <a:t>  METHODOLOGY</a:t>
            </a:r>
          </a:p>
        </p:txBody>
      </p:sp>
      <p:sp>
        <p:nvSpPr>
          <p:cNvPr id="29" name="Rectangle 28">
            <a:extLst>
              <a:ext uri="{FF2B5EF4-FFF2-40B4-BE49-F238E27FC236}">
                <a16:creationId xmlns:a16="http://schemas.microsoft.com/office/drawing/2014/main" id="{9CEB6E63-A99E-7B89-B46F-FD9C5F48CA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 name="Rectangle 1">
            <a:extLst>
              <a:ext uri="{FF2B5EF4-FFF2-40B4-BE49-F238E27FC236}">
                <a16:creationId xmlns:a16="http://schemas.microsoft.com/office/drawing/2014/main" id="{42336D5A-CC01-1EB7-C120-86AC3E13B3D1}"/>
              </a:ext>
            </a:extLst>
          </p:cNvPr>
          <p:cNvSpPr>
            <a:spLocks noChangeArrowheads="1"/>
          </p:cNvSpPr>
          <p:nvPr/>
        </p:nvSpPr>
        <p:spPr bwMode="auto">
          <a:xfrm>
            <a:off x="677655" y="889929"/>
            <a:ext cx="10657095" cy="536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fontAlgn="base">
              <a:lnSpc>
                <a:spcPct val="150000"/>
              </a:lnSpc>
              <a:spcBef>
                <a:spcPct val="0"/>
              </a:spcBef>
              <a:spcAft>
                <a:spcPct val="0"/>
              </a:spcAft>
              <a:buFont typeface="Arial" panose="020B0604020202020204" pitchFamily="34" charset="0"/>
              <a:buChar char="•"/>
            </a:pPr>
            <a:r>
              <a:rPr lang="en-US" altLang="en-US" sz="2100" dirty="0">
                <a:ea typeface="+mn-lt"/>
                <a:cs typeface="+mn-lt"/>
              </a:rPr>
              <a:t>Architecture: Client-server model with a React.js frontend, Node.js backend, and MySQL database for centralized data storage.</a:t>
            </a:r>
          </a:p>
          <a:p>
            <a:pPr fontAlgn="base">
              <a:lnSpc>
                <a:spcPct val="150000"/>
              </a:lnSpc>
              <a:spcBef>
                <a:spcPct val="0"/>
              </a:spcBef>
              <a:spcAft>
                <a:spcPct val="0"/>
              </a:spcAft>
            </a:pPr>
            <a:endParaRPr lang="en-US" altLang="en-US" sz="2100" dirty="0">
              <a:ea typeface="+mn-lt"/>
              <a:cs typeface="+mn-lt"/>
            </a:endParaRPr>
          </a:p>
          <a:p>
            <a:pPr marL="342900" indent="-342900" fontAlgn="base">
              <a:lnSpc>
                <a:spcPct val="150000"/>
              </a:lnSpc>
              <a:spcBef>
                <a:spcPct val="0"/>
              </a:spcBef>
              <a:spcAft>
                <a:spcPct val="0"/>
              </a:spcAft>
              <a:buFont typeface="Arial" panose="020B0604020202020204" pitchFamily="34" charset="0"/>
              <a:buChar char="•"/>
            </a:pPr>
            <a:r>
              <a:rPr lang="en-US" altLang="en-US" sz="2100" dirty="0">
                <a:ea typeface="+mn-lt"/>
                <a:cs typeface="+mn-lt"/>
              </a:rPr>
              <a:t>Frontend: Interactive UI with features like calorie tracking, sleep analysis, and water intake tracking, designed with a purple theme for branding.</a:t>
            </a:r>
          </a:p>
          <a:p>
            <a:pPr fontAlgn="base">
              <a:lnSpc>
                <a:spcPct val="150000"/>
              </a:lnSpc>
              <a:spcBef>
                <a:spcPct val="0"/>
              </a:spcBef>
              <a:spcAft>
                <a:spcPct val="0"/>
              </a:spcAft>
            </a:pPr>
            <a:endParaRPr lang="en-US" altLang="en-US" sz="2100" dirty="0">
              <a:ea typeface="+mn-lt"/>
              <a:cs typeface="+mn-lt"/>
            </a:endParaRPr>
          </a:p>
          <a:p>
            <a:pPr marL="342900" marR="0" lvl="0" indent="-342900" fontAlgn="base">
              <a:lnSpc>
                <a:spcPct val="150000"/>
              </a:lnSpc>
              <a:spcBef>
                <a:spcPct val="0"/>
              </a:spcBef>
              <a:spcAft>
                <a:spcPct val="0"/>
              </a:spcAft>
              <a:buClrTx/>
              <a:buSzTx/>
              <a:buFont typeface="Arial" panose="020B0604020202020204" pitchFamily="34" charset="0"/>
              <a:buChar char="•"/>
              <a:tabLst/>
            </a:pPr>
            <a:r>
              <a:rPr lang="en-US" altLang="en-US" sz="2100" dirty="0">
                <a:ea typeface="+mn-lt"/>
                <a:cs typeface="+mn-lt"/>
              </a:rPr>
              <a:t>Backend: Built using Node.js, handling business logic, user authentication, and database communication.</a:t>
            </a:r>
          </a:p>
          <a:p>
            <a:pPr marR="0" lvl="0" fontAlgn="base">
              <a:spcBef>
                <a:spcPct val="0"/>
              </a:spcBef>
              <a:spcAft>
                <a:spcPct val="0"/>
              </a:spcAft>
              <a:buClrTx/>
              <a:buSzTx/>
              <a:tabLst/>
            </a:pPr>
            <a:endParaRPr lang="en-US" altLang="en-US" sz="2100" dirty="0">
              <a:ea typeface="+mn-lt"/>
              <a:cs typeface="+mn-lt"/>
            </a:endParaRPr>
          </a:p>
          <a:p>
            <a:pPr marL="342900" marR="0" lvl="0" indent="-342900" fontAlgn="base">
              <a:lnSpc>
                <a:spcPct val="150000"/>
              </a:lnSpc>
              <a:spcBef>
                <a:spcPct val="0"/>
              </a:spcBef>
              <a:spcAft>
                <a:spcPct val="0"/>
              </a:spcAft>
              <a:buClrTx/>
              <a:buSzTx/>
              <a:buFont typeface="Arial" panose="020B0604020202020204" pitchFamily="34" charset="0"/>
              <a:buChar char="•"/>
              <a:tabLst/>
            </a:pPr>
            <a:r>
              <a:rPr lang="en-US" altLang="en-US" sz="2100" dirty="0">
                <a:ea typeface="+mn-lt"/>
                <a:cs typeface="+mn-lt"/>
              </a:rPr>
              <a:t>Database: Normalized tables with primary and foreign keys for data integrity, storing user data, food items, and tracking records.</a:t>
            </a:r>
          </a:p>
        </p:txBody>
      </p:sp>
    </p:spTree>
    <p:extLst>
      <p:ext uri="{BB962C8B-B14F-4D97-AF65-F5344CB8AC3E}">
        <p14:creationId xmlns:p14="http://schemas.microsoft.com/office/powerpoint/2010/main" val="322586966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7E6CA-674A-15B8-28CB-289013FDEDC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22914D-040D-7014-3C73-4DED08D40D7A}"/>
              </a:ext>
            </a:extLst>
          </p:cNvPr>
          <p:cNvSpPr txBox="1"/>
          <p:nvPr/>
        </p:nvSpPr>
        <p:spPr>
          <a:xfrm>
            <a:off x="860322" y="1228397"/>
            <a:ext cx="9301316" cy="4401205"/>
          </a:xfrm>
          <a:prstGeom prst="rect">
            <a:avLst/>
          </a:prstGeom>
          <a:noFill/>
        </p:spPr>
        <p:txBody>
          <a:bodyPr wrap="square">
            <a:spAutoFit/>
          </a:bodyPr>
          <a:lstStyle/>
          <a:p>
            <a:pPr marL="342900" marR="0" lvl="0" indent="-342900" fontAlgn="base">
              <a:lnSpc>
                <a:spcPct val="150000"/>
              </a:lnSpc>
              <a:spcBef>
                <a:spcPct val="0"/>
              </a:spcBef>
              <a:spcAft>
                <a:spcPct val="0"/>
              </a:spcAft>
              <a:buClrTx/>
              <a:buSzTx/>
              <a:buFont typeface="Arial" panose="020B0604020202020204" pitchFamily="34" charset="0"/>
              <a:buChar char="•"/>
              <a:tabLst/>
            </a:pPr>
            <a:r>
              <a:rPr lang="en-US" altLang="en-US" sz="2100" dirty="0">
                <a:solidFill>
                  <a:schemeClr val="bg1"/>
                </a:solidFill>
                <a:ea typeface="+mn-lt"/>
                <a:cs typeface="+mn-lt"/>
              </a:rPr>
              <a:t>Data Persistence: Utilized </a:t>
            </a:r>
            <a:r>
              <a:rPr lang="en-US" altLang="en-US" sz="2100" dirty="0" err="1">
                <a:solidFill>
                  <a:schemeClr val="bg1"/>
                </a:solidFill>
                <a:ea typeface="+mn-lt"/>
                <a:cs typeface="+mn-lt"/>
              </a:rPr>
              <a:t>LocalStorage</a:t>
            </a:r>
            <a:r>
              <a:rPr lang="en-US" altLang="en-US" sz="2100" dirty="0">
                <a:solidFill>
                  <a:schemeClr val="bg1"/>
                </a:solidFill>
                <a:ea typeface="+mn-lt"/>
                <a:cs typeface="+mn-lt"/>
              </a:rPr>
              <a:t> for temporary session data and ensured long-term data is stored in the database.</a:t>
            </a:r>
          </a:p>
          <a:p>
            <a:pPr marR="0" lvl="0" fontAlgn="base">
              <a:lnSpc>
                <a:spcPct val="150000"/>
              </a:lnSpc>
              <a:spcBef>
                <a:spcPct val="0"/>
              </a:spcBef>
              <a:spcAft>
                <a:spcPct val="0"/>
              </a:spcAft>
              <a:buClrTx/>
              <a:buSzTx/>
              <a:tabLst/>
            </a:pPr>
            <a:endParaRPr lang="en-US" altLang="en-US" sz="2100" dirty="0">
              <a:solidFill>
                <a:schemeClr val="bg1"/>
              </a:solidFill>
              <a:ea typeface="+mn-lt"/>
              <a:cs typeface="+mn-lt"/>
            </a:endParaRPr>
          </a:p>
          <a:p>
            <a:pPr marL="342900" marR="0" lvl="0" indent="-342900" fontAlgn="base">
              <a:lnSpc>
                <a:spcPct val="150000"/>
              </a:lnSpc>
              <a:spcBef>
                <a:spcPct val="0"/>
              </a:spcBef>
              <a:spcAft>
                <a:spcPct val="0"/>
              </a:spcAft>
              <a:buClrTx/>
              <a:buSzTx/>
              <a:buFont typeface="Arial" panose="020B0604020202020204" pitchFamily="34" charset="0"/>
              <a:buChar char="•"/>
              <a:tabLst/>
            </a:pPr>
            <a:r>
              <a:rPr lang="en-US" altLang="en-US" sz="2100" dirty="0">
                <a:solidFill>
                  <a:schemeClr val="bg1"/>
                </a:solidFill>
                <a:ea typeface="+mn-lt"/>
                <a:cs typeface="+mn-lt"/>
              </a:rPr>
              <a:t>User Experience: Intuitive design with large inputs, visual graphs, and seamless navigation for tracking features.</a:t>
            </a:r>
          </a:p>
          <a:p>
            <a:pPr marR="0" lvl="0" fontAlgn="base">
              <a:lnSpc>
                <a:spcPct val="150000"/>
              </a:lnSpc>
              <a:spcBef>
                <a:spcPct val="0"/>
              </a:spcBef>
              <a:spcAft>
                <a:spcPct val="0"/>
              </a:spcAft>
              <a:buClrTx/>
              <a:buSzTx/>
              <a:tabLst/>
            </a:pPr>
            <a:endParaRPr lang="en-US" altLang="en-US" sz="2100" dirty="0">
              <a:solidFill>
                <a:schemeClr val="bg1"/>
              </a:solidFill>
              <a:ea typeface="+mn-lt"/>
              <a:cs typeface="+mn-lt"/>
            </a:endParaRPr>
          </a:p>
          <a:p>
            <a:pPr marL="342900" marR="0" lvl="0" indent="-342900" fontAlgn="base">
              <a:lnSpc>
                <a:spcPct val="150000"/>
              </a:lnSpc>
              <a:spcBef>
                <a:spcPct val="0"/>
              </a:spcBef>
              <a:spcAft>
                <a:spcPct val="0"/>
              </a:spcAft>
              <a:buClrTx/>
              <a:buSzTx/>
              <a:buFont typeface="Arial" panose="020B0604020202020204" pitchFamily="34" charset="0"/>
              <a:buChar char="•"/>
              <a:tabLst/>
            </a:pPr>
            <a:r>
              <a:rPr lang="en-US" altLang="en-US" sz="2100" dirty="0">
                <a:solidFill>
                  <a:schemeClr val="bg1"/>
                </a:solidFill>
                <a:ea typeface="+mn-lt"/>
                <a:cs typeface="+mn-lt"/>
              </a:rPr>
              <a:t>Development: Modular approach dividing frontend, backend, and database tasks, with iterative testing for integration</a:t>
            </a:r>
            <a:r>
              <a:rPr lang="en-US" altLang="en-US" sz="2100" dirty="0">
                <a:ea typeface="+mn-lt"/>
                <a:cs typeface="+mn-lt"/>
              </a:rPr>
              <a:t>. </a:t>
            </a:r>
          </a:p>
          <a:p>
            <a:endParaRPr lang="en-IN" sz="2800" dirty="0">
              <a:solidFill>
                <a:schemeClr val="bg1"/>
              </a:solidFill>
              <a:latin typeface="+mj-lt"/>
            </a:endParaRPr>
          </a:p>
        </p:txBody>
      </p:sp>
    </p:spTree>
    <p:extLst>
      <p:ext uri="{BB962C8B-B14F-4D97-AF65-F5344CB8AC3E}">
        <p14:creationId xmlns:p14="http://schemas.microsoft.com/office/powerpoint/2010/main" val="298604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CF1D-5C91-096E-EE15-F9467F84ECE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91B65FB-EEEF-C52A-34A7-4E054884D466}"/>
              </a:ext>
            </a:extLst>
          </p:cNvPr>
          <p:cNvPicPr>
            <a:picLocks noChangeAspect="1"/>
          </p:cNvPicPr>
          <p:nvPr/>
        </p:nvPicPr>
        <p:blipFill>
          <a:blip r:embed="rId2"/>
          <a:stretch>
            <a:fillRect/>
          </a:stretch>
        </p:blipFill>
        <p:spPr>
          <a:xfrm>
            <a:off x="2659082" y="1559595"/>
            <a:ext cx="6873836" cy="3962743"/>
          </a:xfrm>
          <a:prstGeom prst="rect">
            <a:avLst/>
          </a:prstGeom>
        </p:spPr>
      </p:pic>
      <p:sp>
        <p:nvSpPr>
          <p:cNvPr id="4" name="TextBox 3">
            <a:extLst>
              <a:ext uri="{FF2B5EF4-FFF2-40B4-BE49-F238E27FC236}">
                <a16:creationId xmlns:a16="http://schemas.microsoft.com/office/drawing/2014/main" id="{DA32D161-1182-A74F-9ACB-B218764F2220}"/>
              </a:ext>
            </a:extLst>
          </p:cNvPr>
          <p:cNvSpPr txBox="1"/>
          <p:nvPr/>
        </p:nvSpPr>
        <p:spPr>
          <a:xfrm>
            <a:off x="970384" y="811763"/>
            <a:ext cx="5225143" cy="369332"/>
          </a:xfrm>
          <a:prstGeom prst="rect">
            <a:avLst/>
          </a:prstGeom>
          <a:noFill/>
        </p:spPr>
        <p:txBody>
          <a:bodyPr wrap="square" rtlCol="0">
            <a:spAutoFit/>
          </a:bodyPr>
          <a:lstStyle/>
          <a:p>
            <a:r>
              <a:rPr lang="en-US" b="1" dirty="0">
                <a:solidFill>
                  <a:schemeClr val="bg1"/>
                </a:solidFill>
              </a:rPr>
              <a:t>ARCHITECTURE DIAGRAM:</a:t>
            </a:r>
            <a:endParaRPr lang="en-IN" b="1" dirty="0">
              <a:solidFill>
                <a:schemeClr val="bg1"/>
              </a:solidFill>
            </a:endParaRPr>
          </a:p>
        </p:txBody>
      </p:sp>
    </p:spTree>
    <p:extLst>
      <p:ext uri="{BB962C8B-B14F-4D97-AF65-F5344CB8AC3E}">
        <p14:creationId xmlns:p14="http://schemas.microsoft.com/office/powerpoint/2010/main" val="3654970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IN"/>
            </a:p>
          </p:txBody>
        </p:sp>
      </p:grpSp>
      <p:sp>
        <p:nvSpPr>
          <p:cNvPr id="2" name="Title 1">
            <a:extLst>
              <a:ext uri="{FF2B5EF4-FFF2-40B4-BE49-F238E27FC236}">
                <a16:creationId xmlns:a16="http://schemas.microsoft.com/office/drawing/2014/main" id="{C755194A-DDF6-3FEA-D23D-ED5960A47974}"/>
              </a:ext>
            </a:extLst>
          </p:cNvPr>
          <p:cNvSpPr>
            <a:spLocks noGrp="1"/>
          </p:cNvSpPr>
          <p:nvPr>
            <p:ph type="title"/>
          </p:nvPr>
        </p:nvSpPr>
        <p:spPr>
          <a:xfrm>
            <a:off x="836247" y="1085549"/>
            <a:ext cx="3430947" cy="4686903"/>
          </a:xfrm>
        </p:spPr>
        <p:txBody>
          <a:bodyPr anchor="ctr">
            <a:normAutofit/>
          </a:bodyPr>
          <a:lstStyle/>
          <a:p>
            <a:pPr algn="ctr"/>
            <a:r>
              <a:rPr lang="en-US" b="1">
                <a:solidFill>
                  <a:schemeClr val="tx1"/>
                </a:solidFill>
              </a:rPr>
              <a:t>Software Requirements</a:t>
            </a: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8DF364-C79B-B2DD-53CF-F8D8BBDDEF64}"/>
              </a:ext>
            </a:extLst>
          </p:cNvPr>
          <p:cNvSpPr>
            <a:spLocks noGrp="1"/>
          </p:cNvSpPr>
          <p:nvPr>
            <p:ph idx="1"/>
          </p:nvPr>
        </p:nvSpPr>
        <p:spPr>
          <a:xfrm>
            <a:off x="4847303" y="1209368"/>
            <a:ext cx="5909178" cy="4994787"/>
          </a:xfrm>
        </p:spPr>
        <p:txBody>
          <a:bodyPr anchor="ctr">
            <a:normAutofit/>
          </a:bodyPr>
          <a:lstStyle/>
          <a:p>
            <a:pPr marL="0" indent="0">
              <a:lnSpc>
                <a:spcPct val="150000"/>
              </a:lnSpc>
              <a:buNone/>
            </a:pPr>
            <a:r>
              <a:rPr lang="en-IN" sz="2400" dirty="0">
                <a:latin typeface="ADLaM Display" panose="02010000000000000000" pitchFamily="2" charset="0"/>
                <a:ea typeface="ADLaM Display" panose="02010000000000000000" pitchFamily="2" charset="0"/>
                <a:cs typeface="ADLaM Display" panose="02010000000000000000" pitchFamily="2" charset="0"/>
              </a:rPr>
              <a:t>   FRONTEND</a:t>
            </a:r>
          </a:p>
          <a:p>
            <a:pPr marL="0" indent="0">
              <a:lnSpc>
                <a:spcPct val="150000"/>
              </a:lnSpc>
              <a:buNone/>
            </a:pPr>
            <a:r>
              <a:rPr lang="en-IN" dirty="0">
                <a:latin typeface="ADLaM Display" panose="02010000000000000000" pitchFamily="2" charset="0"/>
                <a:ea typeface="ADLaM Display" panose="02010000000000000000" pitchFamily="2" charset="0"/>
                <a:cs typeface="ADLaM Display" panose="02010000000000000000" pitchFamily="2" charset="0"/>
              </a:rPr>
              <a:t>    HTML, CSS, JavaScript </a:t>
            </a:r>
          </a:p>
          <a:p>
            <a:pPr marL="0" indent="0">
              <a:lnSpc>
                <a:spcPct val="150000"/>
              </a:lnSpc>
              <a:buNone/>
            </a:pPr>
            <a:r>
              <a:rPr lang="en-US" b="1" dirty="0"/>
              <a:t>     </a:t>
            </a:r>
            <a:r>
              <a:rPr lang="en-US" b="1" i="1" dirty="0"/>
              <a:t>Features</a:t>
            </a:r>
            <a:r>
              <a:rPr lang="en-US" b="1" dirty="0"/>
              <a:t>:</a:t>
            </a:r>
          </a:p>
          <a:p>
            <a:pPr>
              <a:lnSpc>
                <a:spcPct val="150000"/>
              </a:lnSpc>
              <a:buFont typeface="Arial" panose="020B0604020202020204" pitchFamily="34" charset="0"/>
              <a:buChar char="•"/>
            </a:pPr>
            <a:r>
              <a:rPr lang="en-US" b="1" dirty="0"/>
              <a:t>Input Forms:</a:t>
            </a:r>
            <a:r>
              <a:rPr lang="en-US" dirty="0"/>
              <a:t> Simple forms to input water intake, food intake, and sleep data.</a:t>
            </a:r>
          </a:p>
          <a:p>
            <a:pPr>
              <a:lnSpc>
                <a:spcPct val="150000"/>
              </a:lnSpc>
              <a:buFont typeface="Arial" panose="020B0604020202020204" pitchFamily="34" charset="0"/>
              <a:buChar char="•"/>
            </a:pPr>
            <a:r>
              <a:rPr lang="en-US" b="1" dirty="0"/>
              <a:t>Display:</a:t>
            </a:r>
            <a:r>
              <a:rPr lang="en-US" dirty="0"/>
              <a:t> Sections to display the total calories consumed, recommended exercises, and healthy recipes.</a:t>
            </a:r>
          </a:p>
          <a:p>
            <a:pPr>
              <a:lnSpc>
                <a:spcPct val="150000"/>
              </a:lnSpc>
              <a:buFont typeface="Arial" panose="020B0604020202020204" pitchFamily="34" charset="0"/>
              <a:buChar char="•"/>
            </a:pPr>
            <a:r>
              <a:rPr lang="en-US" b="1" dirty="0"/>
              <a:t>Basic Styling:</a:t>
            </a:r>
            <a:r>
              <a:rPr lang="en-US" dirty="0"/>
              <a:t> Use plain CSS for styling to keep the design simple and user-friendly.</a:t>
            </a:r>
          </a:p>
          <a:p>
            <a:endParaRPr lang="en-US" dirty="0">
              <a:solidFill>
                <a:schemeClr val="tx1"/>
              </a:solidFill>
            </a:endParaRPr>
          </a:p>
        </p:txBody>
      </p:sp>
    </p:spTree>
    <p:extLst>
      <p:ext uri="{BB962C8B-B14F-4D97-AF65-F5344CB8AC3E}">
        <p14:creationId xmlns:p14="http://schemas.microsoft.com/office/powerpoint/2010/main" val="162524941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down)">
                                      <p:cBhvr>
                                        <p:cTn id="20" dur="500"/>
                                        <p:tgtEl>
                                          <p:spTgt spid="3">
                                            <p:txEl>
                                              <p:pRg st="2" end="2"/>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down)">
                                      <p:cBhvr>
                                        <p:cTn id="23" dur="500"/>
                                        <p:tgtEl>
                                          <p:spTgt spid="3">
                                            <p:txEl>
                                              <p:pRg st="3" end="3"/>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down)">
                                      <p:cBhvr>
                                        <p:cTn id="26" dur="500"/>
                                        <p:tgtEl>
                                          <p:spTgt spid="3">
                                            <p:txEl>
                                              <p:pRg st="4" end="4"/>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wipe(down)">
                                      <p:cBhvr>
                                        <p:cTn id="2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IN"/>
            </a:p>
          </p:txBody>
        </p:sp>
      </p:grpSp>
      <p:sp>
        <p:nvSpPr>
          <p:cNvPr id="2" name="Title 1">
            <a:extLst>
              <a:ext uri="{FF2B5EF4-FFF2-40B4-BE49-F238E27FC236}">
                <a16:creationId xmlns:a16="http://schemas.microsoft.com/office/drawing/2014/main" id="{C755194A-DDF6-3FEA-D23D-ED5960A47974}"/>
              </a:ext>
            </a:extLst>
          </p:cNvPr>
          <p:cNvSpPr>
            <a:spLocks noGrp="1"/>
          </p:cNvSpPr>
          <p:nvPr>
            <p:ph type="title"/>
          </p:nvPr>
        </p:nvSpPr>
        <p:spPr>
          <a:xfrm>
            <a:off x="836247" y="1085549"/>
            <a:ext cx="3430947" cy="4686903"/>
          </a:xfrm>
        </p:spPr>
        <p:txBody>
          <a:bodyPr anchor="ctr">
            <a:normAutofit/>
          </a:bodyPr>
          <a:lstStyle/>
          <a:p>
            <a:pPr algn="ctr"/>
            <a:r>
              <a:rPr lang="en-US" b="1">
                <a:solidFill>
                  <a:schemeClr val="tx1"/>
                </a:solidFill>
              </a:rPr>
              <a:t>Software Requirements</a:t>
            </a: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8DF364-C79B-B2DD-53CF-F8D8BBDDEF64}"/>
              </a:ext>
            </a:extLst>
          </p:cNvPr>
          <p:cNvSpPr>
            <a:spLocks noGrp="1"/>
          </p:cNvSpPr>
          <p:nvPr>
            <p:ph idx="1"/>
          </p:nvPr>
        </p:nvSpPr>
        <p:spPr>
          <a:xfrm>
            <a:off x="5041399" y="1272362"/>
            <a:ext cx="5579707" cy="4686903"/>
          </a:xfrm>
        </p:spPr>
        <p:txBody>
          <a:bodyPr anchor="ctr">
            <a:normAutofit/>
          </a:bodyPr>
          <a:lstStyle/>
          <a:p>
            <a:pPr marL="0" indent="0">
              <a:lnSpc>
                <a:spcPct val="150000"/>
              </a:lnSpc>
              <a:buNone/>
            </a:pPr>
            <a:r>
              <a:rPr lang="en-IN" sz="2400" dirty="0">
                <a:latin typeface="ADLaM Display" panose="02010000000000000000" pitchFamily="2" charset="0"/>
                <a:ea typeface="ADLaM Display" panose="02010000000000000000" pitchFamily="2" charset="0"/>
                <a:cs typeface="ADLaM Display" panose="02010000000000000000" pitchFamily="2" charset="0"/>
              </a:rPr>
              <a:t>BACKEND</a:t>
            </a:r>
          </a:p>
          <a:p>
            <a:pPr marL="0" indent="0">
              <a:lnSpc>
                <a:spcPct val="150000"/>
              </a:lnSpc>
              <a:buNone/>
            </a:pPr>
            <a:r>
              <a:rPr lang="en-US" b="1" dirty="0"/>
              <a:t>Languages:</a:t>
            </a:r>
            <a:r>
              <a:rPr lang="en-US" dirty="0"/>
              <a:t> </a:t>
            </a:r>
            <a:r>
              <a:rPr lang="en-US" dirty="0" err="1"/>
              <a:t>SQL,Javascript</a:t>
            </a:r>
            <a:endParaRPr lang="en-US" dirty="0"/>
          </a:p>
          <a:p>
            <a:pPr marL="0" indent="0" algn="just">
              <a:lnSpc>
                <a:spcPct val="150000"/>
              </a:lnSpc>
              <a:buNone/>
            </a:pPr>
            <a:r>
              <a:rPr lang="en-US" b="1" dirty="0"/>
              <a:t>Database: </a:t>
            </a:r>
            <a:r>
              <a:rPr lang="en-US" dirty="0"/>
              <a:t>MySQL for storing user data like  </a:t>
            </a:r>
            <a:r>
              <a:rPr lang="en-US" dirty="0" err="1"/>
              <a:t>name,mail,password</a:t>
            </a:r>
            <a:r>
              <a:rPr lang="en-US" dirty="0"/>
              <a:t> and for storing recipes, ingredients.</a:t>
            </a:r>
          </a:p>
          <a:p>
            <a:pPr marL="0" indent="0" algn="just">
              <a:lnSpc>
                <a:spcPct val="150000"/>
              </a:lnSpc>
              <a:buNone/>
            </a:pPr>
            <a:r>
              <a:rPr lang="en-IN" b="1" dirty="0"/>
              <a:t>Data Processing: </a:t>
            </a:r>
            <a:r>
              <a:rPr lang="en-US" dirty="0"/>
              <a:t>Basic algorithms to calculate total calorie consumption and match exercises and recipes with user data.</a:t>
            </a:r>
          </a:p>
          <a:p>
            <a:pPr marL="0" indent="0">
              <a:buNone/>
            </a:pPr>
            <a:r>
              <a:rPr lang="en-US" b="1" dirty="0">
                <a:solidFill>
                  <a:schemeClr val="tx1"/>
                </a:solidFill>
              </a:rPr>
              <a:t>Backend Framework:  </a:t>
            </a:r>
            <a:r>
              <a:rPr lang="en-US" dirty="0">
                <a:solidFill>
                  <a:schemeClr val="tx1"/>
                </a:solidFill>
              </a:rPr>
              <a:t>Node.js</a:t>
            </a:r>
          </a:p>
        </p:txBody>
      </p:sp>
    </p:spTree>
    <p:extLst>
      <p:ext uri="{BB962C8B-B14F-4D97-AF65-F5344CB8AC3E}">
        <p14:creationId xmlns:p14="http://schemas.microsoft.com/office/powerpoint/2010/main" val="34542393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a:extLst>
            <a:ext uri="{FF2B5EF4-FFF2-40B4-BE49-F238E27FC236}">
              <a16:creationId xmlns:a16="http://schemas.microsoft.com/office/drawing/2014/main" id="{95C01BE7-02FB-425F-4D37-7B5E8226B41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281C3F-10FB-B279-372D-9196C993CB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32A9142-AF2A-197F-1427-7CA022548B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788DB866-AD35-7A6A-07DF-1EA956DDD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Freeform 5">
              <a:extLst>
                <a:ext uri="{FF2B5EF4-FFF2-40B4-BE49-F238E27FC236}">
                  <a16:creationId xmlns:a16="http://schemas.microsoft.com/office/drawing/2014/main" id="{717E30F8-C16C-3917-6441-02FFD0A14F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IN"/>
            </a:p>
          </p:txBody>
        </p:sp>
      </p:grpSp>
      <p:sp>
        <p:nvSpPr>
          <p:cNvPr id="2" name="Title 1">
            <a:extLst>
              <a:ext uri="{FF2B5EF4-FFF2-40B4-BE49-F238E27FC236}">
                <a16:creationId xmlns:a16="http://schemas.microsoft.com/office/drawing/2014/main" id="{6D125E62-188E-9A91-5857-60CB43C86E1F}"/>
              </a:ext>
            </a:extLst>
          </p:cNvPr>
          <p:cNvSpPr>
            <a:spLocks noGrp="1"/>
          </p:cNvSpPr>
          <p:nvPr>
            <p:ph type="title"/>
          </p:nvPr>
        </p:nvSpPr>
        <p:spPr>
          <a:xfrm>
            <a:off x="836247" y="1085549"/>
            <a:ext cx="3430947" cy="4686903"/>
          </a:xfrm>
        </p:spPr>
        <p:txBody>
          <a:bodyPr anchor="ctr">
            <a:normAutofit/>
          </a:bodyPr>
          <a:lstStyle/>
          <a:p>
            <a:pPr algn="ctr"/>
            <a:r>
              <a:rPr lang="en-US" b="1" dirty="0">
                <a:solidFill>
                  <a:schemeClr val="tx1"/>
                </a:solidFill>
              </a:rPr>
              <a:t>Hardware Requirements</a:t>
            </a:r>
          </a:p>
        </p:txBody>
      </p:sp>
      <p:cxnSp>
        <p:nvCxnSpPr>
          <p:cNvPr id="14" name="Straight Connector 13">
            <a:extLst>
              <a:ext uri="{FF2B5EF4-FFF2-40B4-BE49-F238E27FC236}">
                <a16:creationId xmlns:a16="http://schemas.microsoft.com/office/drawing/2014/main" id="{B61818BE-1789-2ECA-0D0F-A48D7597AC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D8B82BDE-2A61-8853-D95C-EABB48DBA03C}"/>
              </a:ext>
            </a:extLst>
          </p:cNvPr>
          <p:cNvSpPr>
            <a:spLocks noGrp="1" noChangeArrowheads="1"/>
          </p:cNvSpPr>
          <p:nvPr>
            <p:ph idx="1"/>
          </p:nvPr>
        </p:nvSpPr>
        <p:spPr bwMode="auto">
          <a:xfrm>
            <a:off x="5041900" y="1561122"/>
            <a:ext cx="5909129"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dirty="0"/>
              <a:t>A computer or laptop with a minimum of 8GB RAM for smooth development and testing.</a:t>
            </a:r>
          </a:p>
          <a:p>
            <a:pPr marL="0" marR="0" lvl="0" indent="0" algn="l" defTabSz="914400" rtl="0" eaLnBrk="0" fontAlgn="base" latinLnBrk="0" hangingPunct="0">
              <a:lnSpc>
                <a:spcPct val="150000"/>
              </a:lnSpc>
              <a:spcBef>
                <a:spcPct val="0"/>
              </a:spcBef>
              <a:spcAft>
                <a:spcPct val="0"/>
              </a:spcAft>
              <a:buClrTx/>
              <a:buSzTx/>
              <a:buNone/>
              <a:tabLst/>
            </a:pPr>
            <a:endParaRPr lang="en-US" altLang="en-US" dirty="0"/>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dirty="0"/>
              <a:t>At least 20GB free space to accommodate the development environment, database, and application files.</a:t>
            </a:r>
          </a:p>
          <a:p>
            <a:pPr marL="0" marR="0" lvl="0" indent="0" algn="l" defTabSz="914400" rtl="0" eaLnBrk="0" fontAlgn="base" latinLnBrk="0" hangingPunct="0">
              <a:lnSpc>
                <a:spcPct val="150000"/>
              </a:lnSpc>
              <a:spcBef>
                <a:spcPct val="0"/>
              </a:spcBef>
              <a:spcAft>
                <a:spcPct val="0"/>
              </a:spcAft>
              <a:buClrTx/>
              <a:buSzTx/>
              <a:buNone/>
              <a:tabLst/>
            </a:pPr>
            <a:endParaRPr lang="en-US" altLang="en-US" dirty="0"/>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dirty="0"/>
              <a:t>Internet connectivity for accessing external libraries, tools, and database setup..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5905825"/>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5E6CB-9B0D-52FF-DC04-115B916D06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1925BF-DD45-EBE6-E221-7F78BA5F9BF2}"/>
              </a:ext>
            </a:extLst>
          </p:cNvPr>
          <p:cNvSpPr txBox="1"/>
          <p:nvPr/>
        </p:nvSpPr>
        <p:spPr>
          <a:xfrm>
            <a:off x="827314" y="783771"/>
            <a:ext cx="6128657" cy="430887"/>
          </a:xfrm>
          <a:prstGeom prst="rect">
            <a:avLst/>
          </a:prstGeom>
          <a:noFill/>
        </p:spPr>
        <p:txBody>
          <a:bodyPr wrap="square" rtlCol="0">
            <a:spAutoFit/>
          </a:bodyPr>
          <a:lstStyle/>
          <a:p>
            <a:r>
              <a:rPr lang="en-US" sz="2200" dirty="0">
                <a:solidFill>
                  <a:schemeClr val="bg1"/>
                </a:solidFill>
                <a:latin typeface="+mj-lt"/>
              </a:rPr>
              <a:t>CODING AND RESULTS</a:t>
            </a:r>
            <a:r>
              <a:rPr lang="en-US" dirty="0"/>
              <a:t>:</a:t>
            </a:r>
            <a:endParaRPr lang="en-IN" dirty="0"/>
          </a:p>
        </p:txBody>
      </p:sp>
      <p:sp>
        <p:nvSpPr>
          <p:cNvPr id="9" name="TextBox 8">
            <a:extLst>
              <a:ext uri="{FF2B5EF4-FFF2-40B4-BE49-F238E27FC236}">
                <a16:creationId xmlns:a16="http://schemas.microsoft.com/office/drawing/2014/main" id="{2D660552-A05F-939A-80CA-FFE519B1D3E1}"/>
              </a:ext>
            </a:extLst>
          </p:cNvPr>
          <p:cNvSpPr txBox="1"/>
          <p:nvPr/>
        </p:nvSpPr>
        <p:spPr>
          <a:xfrm>
            <a:off x="5334412" y="1491019"/>
            <a:ext cx="1523174" cy="369332"/>
          </a:xfrm>
          <a:prstGeom prst="rect">
            <a:avLst/>
          </a:prstGeom>
          <a:noFill/>
        </p:spPr>
        <p:txBody>
          <a:bodyPr wrap="none" rtlCol="0">
            <a:spAutoFit/>
          </a:bodyPr>
          <a:lstStyle/>
          <a:p>
            <a:pPr algn="ctr"/>
            <a:r>
              <a:rPr lang="en-US" i="1" dirty="0">
                <a:solidFill>
                  <a:schemeClr val="bg1"/>
                </a:solidFill>
              </a:rPr>
              <a:t>Home Page</a:t>
            </a:r>
            <a:endParaRPr lang="en-IN" i="1" dirty="0">
              <a:solidFill>
                <a:schemeClr val="bg1"/>
              </a:solidFill>
            </a:endParaRPr>
          </a:p>
        </p:txBody>
      </p:sp>
      <p:pic>
        <p:nvPicPr>
          <p:cNvPr id="3" name="Picture 2">
            <a:extLst>
              <a:ext uri="{FF2B5EF4-FFF2-40B4-BE49-F238E27FC236}">
                <a16:creationId xmlns:a16="http://schemas.microsoft.com/office/drawing/2014/main" id="{6C8A8AD3-CCEC-D216-C3E1-7F3C7E31ADB6}"/>
              </a:ext>
            </a:extLst>
          </p:cNvPr>
          <p:cNvPicPr>
            <a:picLocks noChangeAspect="1"/>
          </p:cNvPicPr>
          <p:nvPr/>
        </p:nvPicPr>
        <p:blipFill>
          <a:blip r:embed="rId2"/>
          <a:srcRect t="10204" r="2806" b="6803"/>
          <a:stretch/>
        </p:blipFill>
        <p:spPr>
          <a:xfrm>
            <a:off x="6624735" y="2519266"/>
            <a:ext cx="4773474" cy="2603240"/>
          </a:xfrm>
          <a:prstGeom prst="rect">
            <a:avLst/>
          </a:prstGeom>
        </p:spPr>
      </p:pic>
      <p:pic>
        <p:nvPicPr>
          <p:cNvPr id="7" name="Picture 6">
            <a:extLst>
              <a:ext uri="{FF2B5EF4-FFF2-40B4-BE49-F238E27FC236}">
                <a16:creationId xmlns:a16="http://schemas.microsoft.com/office/drawing/2014/main" id="{EA83F40B-1110-9ADF-7086-CB6E094DED54}"/>
              </a:ext>
            </a:extLst>
          </p:cNvPr>
          <p:cNvPicPr>
            <a:picLocks noChangeAspect="1"/>
          </p:cNvPicPr>
          <p:nvPr/>
        </p:nvPicPr>
        <p:blipFill>
          <a:blip r:embed="rId3"/>
          <a:srcRect l="19439" t="15646" r="8240" b="9796"/>
          <a:stretch/>
        </p:blipFill>
        <p:spPr>
          <a:xfrm>
            <a:off x="1129005" y="2503694"/>
            <a:ext cx="4516016" cy="2618812"/>
          </a:xfrm>
          <a:prstGeom prst="rect">
            <a:avLst/>
          </a:prstGeom>
        </p:spPr>
      </p:pic>
    </p:spTree>
    <p:extLst>
      <p:ext uri="{BB962C8B-B14F-4D97-AF65-F5344CB8AC3E}">
        <p14:creationId xmlns:p14="http://schemas.microsoft.com/office/powerpoint/2010/main" val="2873565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AD97A-6CCE-B0A2-C714-51F537BD47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1453F9-E915-9E22-B123-A660F58096B7}"/>
              </a:ext>
            </a:extLst>
          </p:cNvPr>
          <p:cNvSpPr txBox="1"/>
          <p:nvPr/>
        </p:nvSpPr>
        <p:spPr>
          <a:xfrm>
            <a:off x="827314" y="783771"/>
            <a:ext cx="6128657" cy="430887"/>
          </a:xfrm>
          <a:prstGeom prst="rect">
            <a:avLst/>
          </a:prstGeom>
          <a:noFill/>
        </p:spPr>
        <p:txBody>
          <a:bodyPr wrap="square" rtlCol="0">
            <a:spAutoFit/>
          </a:bodyPr>
          <a:lstStyle/>
          <a:p>
            <a:r>
              <a:rPr lang="en-US" sz="2200" dirty="0">
                <a:solidFill>
                  <a:schemeClr val="bg1"/>
                </a:solidFill>
                <a:latin typeface="+mj-lt"/>
              </a:rPr>
              <a:t>CODING AND RESULTS</a:t>
            </a:r>
            <a:r>
              <a:rPr lang="en-US" dirty="0"/>
              <a:t>:</a:t>
            </a:r>
            <a:endParaRPr lang="en-IN" dirty="0"/>
          </a:p>
        </p:txBody>
      </p:sp>
      <p:pic>
        <p:nvPicPr>
          <p:cNvPr id="6" name="Picture 5">
            <a:extLst>
              <a:ext uri="{FF2B5EF4-FFF2-40B4-BE49-F238E27FC236}">
                <a16:creationId xmlns:a16="http://schemas.microsoft.com/office/drawing/2014/main" id="{92E1D44F-69A0-EE08-48A8-2439A9C6D8C5}"/>
              </a:ext>
            </a:extLst>
          </p:cNvPr>
          <p:cNvPicPr>
            <a:picLocks noChangeAspect="1"/>
          </p:cNvPicPr>
          <p:nvPr/>
        </p:nvPicPr>
        <p:blipFill>
          <a:blip r:embed="rId2"/>
          <a:stretch>
            <a:fillRect/>
          </a:stretch>
        </p:blipFill>
        <p:spPr>
          <a:xfrm>
            <a:off x="6802016" y="2192693"/>
            <a:ext cx="4657531" cy="3051109"/>
          </a:xfrm>
          <a:prstGeom prst="rect">
            <a:avLst/>
          </a:prstGeom>
        </p:spPr>
      </p:pic>
      <p:pic>
        <p:nvPicPr>
          <p:cNvPr id="8" name="Picture 7">
            <a:extLst>
              <a:ext uri="{FF2B5EF4-FFF2-40B4-BE49-F238E27FC236}">
                <a16:creationId xmlns:a16="http://schemas.microsoft.com/office/drawing/2014/main" id="{574EA368-D2B7-B659-A8CB-7C302FFC2471}"/>
              </a:ext>
            </a:extLst>
          </p:cNvPr>
          <p:cNvPicPr>
            <a:picLocks noChangeAspect="1"/>
          </p:cNvPicPr>
          <p:nvPr/>
        </p:nvPicPr>
        <p:blipFill>
          <a:blip r:embed="rId3"/>
          <a:stretch>
            <a:fillRect/>
          </a:stretch>
        </p:blipFill>
        <p:spPr>
          <a:xfrm>
            <a:off x="1138335" y="2192694"/>
            <a:ext cx="4525347" cy="3051109"/>
          </a:xfrm>
          <a:prstGeom prst="rect">
            <a:avLst/>
          </a:prstGeom>
        </p:spPr>
      </p:pic>
      <p:sp>
        <p:nvSpPr>
          <p:cNvPr id="9" name="TextBox 8">
            <a:extLst>
              <a:ext uri="{FF2B5EF4-FFF2-40B4-BE49-F238E27FC236}">
                <a16:creationId xmlns:a16="http://schemas.microsoft.com/office/drawing/2014/main" id="{5C76E69F-25AC-6E07-6033-97781B110E18}"/>
              </a:ext>
            </a:extLst>
          </p:cNvPr>
          <p:cNvSpPr txBox="1"/>
          <p:nvPr/>
        </p:nvSpPr>
        <p:spPr>
          <a:xfrm>
            <a:off x="4551346" y="1491019"/>
            <a:ext cx="3089307" cy="369332"/>
          </a:xfrm>
          <a:prstGeom prst="rect">
            <a:avLst/>
          </a:prstGeom>
          <a:noFill/>
        </p:spPr>
        <p:txBody>
          <a:bodyPr wrap="none" rtlCol="0">
            <a:spAutoFit/>
          </a:bodyPr>
          <a:lstStyle/>
          <a:p>
            <a:pPr algn="ctr"/>
            <a:r>
              <a:rPr lang="en-US" i="1" dirty="0">
                <a:solidFill>
                  <a:schemeClr val="bg1"/>
                </a:solidFill>
              </a:rPr>
              <a:t>Recipe Recommendation</a:t>
            </a:r>
            <a:endParaRPr lang="en-IN" i="1" dirty="0">
              <a:solidFill>
                <a:schemeClr val="bg1"/>
              </a:solidFill>
            </a:endParaRPr>
          </a:p>
        </p:txBody>
      </p:sp>
    </p:spTree>
    <p:extLst>
      <p:ext uri="{BB962C8B-B14F-4D97-AF65-F5344CB8AC3E}">
        <p14:creationId xmlns:p14="http://schemas.microsoft.com/office/powerpoint/2010/main" val="1191444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1FFD7-2026-839D-9AC0-D336E02A838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CBEBF5-8B24-39FF-A8BA-DF4CE8A0CD6B}"/>
              </a:ext>
            </a:extLst>
          </p:cNvPr>
          <p:cNvSpPr txBox="1"/>
          <p:nvPr/>
        </p:nvSpPr>
        <p:spPr>
          <a:xfrm>
            <a:off x="827314" y="783771"/>
            <a:ext cx="6128657" cy="430887"/>
          </a:xfrm>
          <a:prstGeom prst="rect">
            <a:avLst/>
          </a:prstGeom>
          <a:noFill/>
        </p:spPr>
        <p:txBody>
          <a:bodyPr wrap="square" rtlCol="0">
            <a:spAutoFit/>
          </a:bodyPr>
          <a:lstStyle/>
          <a:p>
            <a:r>
              <a:rPr lang="en-US" sz="2200" dirty="0">
                <a:solidFill>
                  <a:schemeClr val="bg1"/>
                </a:solidFill>
                <a:latin typeface="+mj-lt"/>
              </a:rPr>
              <a:t>CODING AND RESULTS</a:t>
            </a:r>
            <a:r>
              <a:rPr lang="en-US" dirty="0"/>
              <a:t>:</a:t>
            </a:r>
            <a:endParaRPr lang="en-IN" dirty="0"/>
          </a:p>
        </p:txBody>
      </p:sp>
      <p:pic>
        <p:nvPicPr>
          <p:cNvPr id="3" name="Picture 2">
            <a:extLst>
              <a:ext uri="{FF2B5EF4-FFF2-40B4-BE49-F238E27FC236}">
                <a16:creationId xmlns:a16="http://schemas.microsoft.com/office/drawing/2014/main" id="{3AFCA218-8959-54AE-DEE5-6E1B8FE33424}"/>
              </a:ext>
            </a:extLst>
          </p:cNvPr>
          <p:cNvPicPr>
            <a:picLocks noChangeAspect="1"/>
          </p:cNvPicPr>
          <p:nvPr/>
        </p:nvPicPr>
        <p:blipFill>
          <a:blip r:embed="rId2"/>
          <a:stretch>
            <a:fillRect/>
          </a:stretch>
        </p:blipFill>
        <p:spPr>
          <a:xfrm>
            <a:off x="1119673" y="2192693"/>
            <a:ext cx="4657531" cy="3051108"/>
          </a:xfrm>
          <a:prstGeom prst="rect">
            <a:avLst/>
          </a:prstGeom>
        </p:spPr>
      </p:pic>
      <p:pic>
        <p:nvPicPr>
          <p:cNvPr id="7" name="Picture 6">
            <a:extLst>
              <a:ext uri="{FF2B5EF4-FFF2-40B4-BE49-F238E27FC236}">
                <a16:creationId xmlns:a16="http://schemas.microsoft.com/office/drawing/2014/main" id="{4CB589F4-836A-CFD8-5459-47D9FDB5AB5A}"/>
              </a:ext>
            </a:extLst>
          </p:cNvPr>
          <p:cNvPicPr>
            <a:picLocks noChangeAspect="1"/>
          </p:cNvPicPr>
          <p:nvPr/>
        </p:nvPicPr>
        <p:blipFill>
          <a:blip r:embed="rId3"/>
          <a:stretch>
            <a:fillRect/>
          </a:stretch>
        </p:blipFill>
        <p:spPr>
          <a:xfrm>
            <a:off x="6601410" y="2192691"/>
            <a:ext cx="4763275" cy="3051109"/>
          </a:xfrm>
          <a:prstGeom prst="rect">
            <a:avLst/>
          </a:prstGeom>
        </p:spPr>
      </p:pic>
      <p:sp>
        <p:nvSpPr>
          <p:cNvPr id="10" name="TextBox 9">
            <a:extLst>
              <a:ext uri="{FF2B5EF4-FFF2-40B4-BE49-F238E27FC236}">
                <a16:creationId xmlns:a16="http://schemas.microsoft.com/office/drawing/2014/main" id="{672C9130-95C0-567F-590E-AE619D89FE16}"/>
              </a:ext>
            </a:extLst>
          </p:cNvPr>
          <p:cNvSpPr txBox="1"/>
          <p:nvPr/>
        </p:nvSpPr>
        <p:spPr>
          <a:xfrm>
            <a:off x="4503256" y="1491019"/>
            <a:ext cx="3185487" cy="369332"/>
          </a:xfrm>
          <a:prstGeom prst="rect">
            <a:avLst/>
          </a:prstGeom>
          <a:noFill/>
        </p:spPr>
        <p:txBody>
          <a:bodyPr wrap="none" rtlCol="0">
            <a:spAutoFit/>
          </a:bodyPr>
          <a:lstStyle/>
          <a:p>
            <a:pPr algn="ctr"/>
            <a:r>
              <a:rPr lang="en-US" i="1" dirty="0">
                <a:solidFill>
                  <a:schemeClr val="bg1"/>
                </a:solidFill>
              </a:rPr>
              <a:t>Exercise Recommendation</a:t>
            </a:r>
            <a:endParaRPr lang="en-IN" i="1" dirty="0">
              <a:solidFill>
                <a:schemeClr val="bg1"/>
              </a:solidFill>
            </a:endParaRPr>
          </a:p>
        </p:txBody>
      </p:sp>
    </p:spTree>
    <p:extLst>
      <p:ext uri="{BB962C8B-B14F-4D97-AF65-F5344CB8AC3E}">
        <p14:creationId xmlns:p14="http://schemas.microsoft.com/office/powerpoint/2010/main" val="4154438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0" name="Rectangle 19">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0"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31" name="Rectangle 3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pSp>
        <p:nvGrpSpPr>
          <p:cNvPr id="32" name="Group 31">
            <a:extLst>
              <a:ext uri="{FF2B5EF4-FFF2-40B4-BE49-F238E27FC236}">
                <a16:creationId xmlns:a16="http://schemas.microsoft.com/office/drawing/2014/main" id="{5F72ECA3-2A46-4A5A-8330-12F7E22105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26" name="Rectangle 25">
              <a:extLst>
                <a:ext uri="{FF2B5EF4-FFF2-40B4-BE49-F238E27FC236}">
                  <a16:creationId xmlns:a16="http://schemas.microsoft.com/office/drawing/2014/main" id="{2A4A5C4D-76C1-47EA-A0B6-CF294A5F4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7" name="Freeform 5">
              <a:extLst>
                <a:ext uri="{FF2B5EF4-FFF2-40B4-BE49-F238E27FC236}">
                  <a16:creationId xmlns:a16="http://schemas.microsoft.com/office/drawing/2014/main" id="{29BC618C-AD3C-444D-B8CB-6FB6920D48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IN"/>
            </a:p>
          </p:txBody>
        </p:sp>
      </p:grpSp>
      <p:sp>
        <p:nvSpPr>
          <p:cNvPr id="2" name="Title 1">
            <a:extLst>
              <a:ext uri="{FF2B5EF4-FFF2-40B4-BE49-F238E27FC236}">
                <a16:creationId xmlns:a16="http://schemas.microsoft.com/office/drawing/2014/main" id="{C755194A-DDF6-3FEA-D23D-ED5960A47974}"/>
              </a:ext>
            </a:extLst>
          </p:cNvPr>
          <p:cNvSpPr>
            <a:spLocks noGrp="1"/>
          </p:cNvSpPr>
          <p:nvPr>
            <p:ph type="title"/>
          </p:nvPr>
        </p:nvSpPr>
        <p:spPr>
          <a:xfrm>
            <a:off x="773420" y="685443"/>
            <a:ext cx="6223018" cy="713773"/>
          </a:xfrm>
        </p:spPr>
        <p:txBody>
          <a:bodyPr vert="horz" lIns="91440" tIns="45720" rIns="91440" bIns="45720" rtlCol="0" anchor="t">
            <a:normAutofit/>
          </a:bodyPr>
          <a:lstStyle/>
          <a:p>
            <a:r>
              <a:rPr lang="en-US" sz="2800" b="1" dirty="0">
                <a:solidFill>
                  <a:schemeClr val="tx1"/>
                </a:solidFill>
              </a:rPr>
              <a:t>What makes </a:t>
            </a:r>
            <a:r>
              <a:rPr lang="en-US" sz="2800" b="1" dirty="0" err="1">
                <a:solidFill>
                  <a:schemeClr val="tx1"/>
                </a:solidFill>
              </a:rPr>
              <a:t>FitZeal</a:t>
            </a:r>
            <a:r>
              <a:rPr lang="en-US" sz="2800" b="1" dirty="0">
                <a:solidFill>
                  <a:schemeClr val="tx1"/>
                </a:solidFill>
              </a:rPr>
              <a:t> Unique</a:t>
            </a:r>
          </a:p>
        </p:txBody>
      </p:sp>
      <p:sp>
        <p:nvSpPr>
          <p:cNvPr id="29" name="Rectangle 28">
            <a:extLst>
              <a:ext uri="{FF2B5EF4-FFF2-40B4-BE49-F238E27FC236}">
                <a16:creationId xmlns:a16="http://schemas.microsoft.com/office/drawing/2014/main" id="{029C0D00-401D-42B7-94D8-008C7DAA8E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TextBox 3">
            <a:extLst>
              <a:ext uri="{FF2B5EF4-FFF2-40B4-BE49-F238E27FC236}">
                <a16:creationId xmlns:a16="http://schemas.microsoft.com/office/drawing/2014/main" id="{5280DB8F-AA9C-12BD-49F2-970B0A932CE5}"/>
              </a:ext>
            </a:extLst>
          </p:cNvPr>
          <p:cNvSpPr txBox="1"/>
          <p:nvPr/>
        </p:nvSpPr>
        <p:spPr>
          <a:xfrm>
            <a:off x="889793" y="1755919"/>
            <a:ext cx="6581109" cy="4247317"/>
          </a:xfrm>
          <a:prstGeom prst="rect">
            <a:avLst/>
          </a:prstGeom>
          <a:noFill/>
        </p:spPr>
        <p:txBody>
          <a:bodyPr wrap="square" lIns="91440" tIns="45720" rIns="91440" bIns="45720" rtlCol="0" anchor="t">
            <a:spAutoFit/>
          </a:bodyPr>
          <a:lstStyle/>
          <a:p>
            <a:r>
              <a:rPr lang="en-US" b="1" dirty="0"/>
              <a:t>    Drawbacks of other websites:</a:t>
            </a:r>
          </a:p>
          <a:p>
            <a:pPr marL="285750" indent="-285750">
              <a:buFont typeface="Wingdings" panose="05000000000000000000" pitchFamily="2" charset="2"/>
              <a:buChar char="Ø"/>
            </a:pPr>
            <a:endParaRPr lang="en-US" dirty="0"/>
          </a:p>
          <a:p>
            <a:pPr marL="285750" indent="-285750" algn="just">
              <a:buFont typeface="Arial" panose="020B0604020202020204" pitchFamily="34" charset="0"/>
              <a:buChar char="•"/>
            </a:pPr>
            <a:r>
              <a:rPr lang="en-US" dirty="0"/>
              <a:t>Websites like Yummly, </a:t>
            </a:r>
            <a:r>
              <a:rPr lang="en-US" dirty="0" err="1"/>
              <a:t>Foodcombo</a:t>
            </a:r>
            <a:r>
              <a:rPr lang="en-US" dirty="0"/>
              <a:t> and MyFridgeFood recommend recipes based on the ingredients provided but do not consider calorie intake.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Websites like MyFitnessPal recommends exercises and tracks calories, but it does not suggest any healthy recipes based on the ingredients we have.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So, our focus here is to integrate both the above features into one platform, which no other website has accomplished till now as far as we know.</a:t>
            </a:r>
          </a:p>
          <a:p>
            <a:pPr marL="285750" indent="-285750" algn="just">
              <a:buFont typeface="Arial" panose="020B0604020202020204" pitchFamily="34" charset="0"/>
              <a:buChar char="•"/>
            </a:pPr>
            <a:endParaRPr lang="en-US" dirty="0"/>
          </a:p>
          <a:p>
            <a:endParaRPr lang="en-IN" dirty="0"/>
          </a:p>
        </p:txBody>
      </p:sp>
      <p:pic>
        <p:nvPicPr>
          <p:cNvPr id="2050" name="Picture 2" descr="About Yummly | Yummly">
            <a:extLst>
              <a:ext uri="{FF2B5EF4-FFF2-40B4-BE49-F238E27FC236}">
                <a16:creationId xmlns:a16="http://schemas.microsoft.com/office/drawing/2014/main" id="{3F8C29CA-F6DB-6093-ACEF-08CF8D0975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7434" y="1538095"/>
            <a:ext cx="2533548" cy="13301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2052" name="Picture 4" descr="MyFitnessPal, Author at MyFitnessPal Blog | Page 5 of 14">
            <a:extLst>
              <a:ext uri="{FF2B5EF4-FFF2-40B4-BE49-F238E27FC236}">
                <a16:creationId xmlns:a16="http://schemas.microsoft.com/office/drawing/2014/main" id="{C5CB5264-0CA3-B1C9-8087-29956F3520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0695" y="4839957"/>
            <a:ext cx="1163279" cy="116327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2054" name="Picture 6" descr="Find recipes by ingredients | Foodcombo">
            <a:extLst>
              <a:ext uri="{FF2B5EF4-FFF2-40B4-BE49-F238E27FC236}">
                <a16:creationId xmlns:a16="http://schemas.microsoft.com/office/drawing/2014/main" id="{E6F4B2E0-6A0E-23DE-CFF8-DD77E91E59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40592" y="4839957"/>
            <a:ext cx="1163279" cy="116327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2056" name="Picture 8" descr="MyFridgeFood - Home">
            <a:extLst>
              <a:ext uri="{FF2B5EF4-FFF2-40B4-BE49-F238E27FC236}">
                <a16:creationId xmlns:a16="http://schemas.microsoft.com/office/drawing/2014/main" id="{4FD66E17-852B-64C2-FE17-590787D0F4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60695" y="3189026"/>
            <a:ext cx="2543176" cy="13301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78691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2EB16-A373-278D-6773-C6CAD08A90C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8BCAF5-3020-E54E-2F0F-8931E5C81EC6}"/>
              </a:ext>
            </a:extLst>
          </p:cNvPr>
          <p:cNvSpPr txBox="1"/>
          <p:nvPr/>
        </p:nvSpPr>
        <p:spPr>
          <a:xfrm>
            <a:off x="803630" y="590058"/>
            <a:ext cx="6096000" cy="523220"/>
          </a:xfrm>
          <a:prstGeom prst="rect">
            <a:avLst/>
          </a:prstGeom>
          <a:noFill/>
        </p:spPr>
        <p:txBody>
          <a:bodyPr wrap="square">
            <a:spAutoFit/>
          </a:bodyPr>
          <a:lstStyle/>
          <a:p>
            <a:r>
              <a:rPr lang="en-US" sz="2800" b="1" dirty="0">
                <a:solidFill>
                  <a:schemeClr val="bg1"/>
                </a:solidFill>
                <a:latin typeface="+mj-lt"/>
              </a:rPr>
              <a:t>FUTURE SCOPE</a:t>
            </a:r>
            <a:endParaRPr lang="en-IN" sz="2800" dirty="0">
              <a:solidFill>
                <a:schemeClr val="bg1"/>
              </a:solidFill>
              <a:latin typeface="+mj-lt"/>
            </a:endParaRPr>
          </a:p>
        </p:txBody>
      </p:sp>
      <p:sp>
        <p:nvSpPr>
          <p:cNvPr id="8" name="Rectangle 2">
            <a:extLst>
              <a:ext uri="{FF2B5EF4-FFF2-40B4-BE49-F238E27FC236}">
                <a16:creationId xmlns:a16="http://schemas.microsoft.com/office/drawing/2014/main" id="{9F89B386-68E9-55E7-A6EB-746498B17010}"/>
              </a:ext>
            </a:extLst>
          </p:cNvPr>
          <p:cNvSpPr>
            <a:spLocks noChangeArrowheads="1"/>
          </p:cNvSpPr>
          <p:nvPr/>
        </p:nvSpPr>
        <p:spPr bwMode="auto">
          <a:xfrm>
            <a:off x="700391" y="1103762"/>
            <a:ext cx="761675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bg1"/>
                </a:solidFill>
                <a:effectLst/>
              </a:rPr>
              <a:t>Integration with wearable devices like Fitbit and Apple Watch to automate data collection (steps, heart rate, sleep, etc.).</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bg1"/>
                </a:solidFill>
                <a:effectLst/>
              </a:rPr>
              <a:t>Implement AI algorithms for smarter, personalized fitness, diet, and wellness suggestions based on user behavior.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bg1"/>
                </a:solidFill>
                <a:effectLst/>
              </a:rPr>
              <a:t>Expand the food database to include a larger variety of foods with accurate calorie and nutritional information.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bg1"/>
                </a:solidFill>
                <a:effectLst/>
              </a:rPr>
              <a:t>Add real-time tracking for workouts (running, cycling, gym exercises) with performance metrics and goal tracking.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bg1"/>
                </a:solidFill>
                <a:effectLst/>
              </a:rPr>
              <a:t>Develop a mobile app for enhanced accessibility and user engagement on the go.</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bg1"/>
                </a:solidFill>
                <a:effectLst/>
              </a:rPr>
              <a:t>Introduce community features for users to connect, share progress, and motivate each other in their wellness journeys. </a:t>
            </a:r>
          </a:p>
        </p:txBody>
      </p:sp>
      <p:pic>
        <p:nvPicPr>
          <p:cNvPr id="1032" name="Picture 8" descr="The best fitness trackers and watches for 2024 - The Verge">
            <a:extLst>
              <a:ext uri="{FF2B5EF4-FFF2-40B4-BE49-F238E27FC236}">
                <a16:creationId xmlns:a16="http://schemas.microsoft.com/office/drawing/2014/main" id="{9B8E4D2E-A649-1D23-0D12-FC38D8B1F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2326" y="1325144"/>
            <a:ext cx="2621759" cy="182880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ealthcare and Fitness App - Softwareistic">
            <a:extLst>
              <a:ext uri="{FF2B5EF4-FFF2-40B4-BE49-F238E27FC236}">
                <a16:creationId xmlns:a16="http://schemas.microsoft.com/office/drawing/2014/main" id="{C6ACA06E-D677-EB29-AE4D-1B03BB7B5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2327" y="3968885"/>
            <a:ext cx="2349384" cy="1731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338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D6072-AAD2-489F-DF8A-6FB01A333B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9F75367-70A2-385F-10FF-DF53F6B6B89B}"/>
              </a:ext>
            </a:extLst>
          </p:cNvPr>
          <p:cNvSpPr txBox="1"/>
          <p:nvPr/>
        </p:nvSpPr>
        <p:spPr>
          <a:xfrm>
            <a:off x="776747" y="680570"/>
            <a:ext cx="6096000" cy="861774"/>
          </a:xfrm>
          <a:prstGeom prst="rect">
            <a:avLst/>
          </a:prstGeom>
          <a:noFill/>
        </p:spPr>
        <p:txBody>
          <a:bodyPr wrap="square">
            <a:spAutoFit/>
          </a:bodyPr>
          <a:lstStyle/>
          <a:p>
            <a:r>
              <a:rPr lang="en-US" sz="2800" b="1" dirty="0">
                <a:solidFill>
                  <a:schemeClr val="bg1"/>
                </a:solidFill>
                <a:latin typeface="+mj-lt"/>
              </a:rPr>
              <a:t>REFERENCES</a:t>
            </a:r>
          </a:p>
          <a:p>
            <a:endParaRPr lang="en-IN" sz="2200" dirty="0">
              <a:solidFill>
                <a:schemeClr val="bg1"/>
              </a:solidFill>
              <a:latin typeface="+mj-lt"/>
            </a:endParaRPr>
          </a:p>
        </p:txBody>
      </p:sp>
      <p:sp>
        <p:nvSpPr>
          <p:cNvPr id="8" name="Rectangle 2">
            <a:extLst>
              <a:ext uri="{FF2B5EF4-FFF2-40B4-BE49-F238E27FC236}">
                <a16:creationId xmlns:a16="http://schemas.microsoft.com/office/drawing/2014/main" id="{A2093262-9940-F6B9-7104-75C3C39C53A7}"/>
              </a:ext>
            </a:extLst>
          </p:cNvPr>
          <p:cNvSpPr>
            <a:spLocks noChangeArrowheads="1"/>
          </p:cNvSpPr>
          <p:nvPr/>
        </p:nvSpPr>
        <p:spPr bwMode="auto">
          <a:xfrm>
            <a:off x="698926" y="1129894"/>
            <a:ext cx="7540402"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1600" b="1" dirty="0">
                <a:solidFill>
                  <a:schemeClr val="bg1"/>
                </a:solidFill>
                <a:effectLst/>
                <a:latin typeface="Georgia" panose="02040502050405020303" pitchFamily="18" charset="0"/>
                <a:ea typeface="Georgia" panose="02040502050405020303" pitchFamily="18" charset="0"/>
                <a:cs typeface="Georgia" panose="02040502050405020303" pitchFamily="18" charset="0"/>
              </a:rPr>
              <a:t>Case Studies and Examples</a:t>
            </a:r>
          </a:p>
          <a:p>
            <a:pPr marL="342900" lvl="0" indent="-342900">
              <a:lnSpc>
                <a:spcPct val="150000"/>
              </a:lnSpc>
              <a:buFont typeface="Arial" panose="020B0604020202020204" pitchFamily="34" charset="0"/>
              <a:buChar char="•"/>
              <a:tabLst>
                <a:tab pos="457200" algn="l"/>
              </a:tabLst>
            </a:pPr>
            <a:r>
              <a:rPr lang="en-IN" sz="1600" dirty="0">
                <a:solidFill>
                  <a:schemeClr val="bg1"/>
                </a:solidFill>
                <a:effectLst/>
                <a:latin typeface="Georgia" panose="02040502050405020303" pitchFamily="18" charset="0"/>
                <a:ea typeface="Georgia" panose="02040502050405020303" pitchFamily="18" charset="0"/>
                <a:cs typeface="Georgia" panose="02040502050405020303" pitchFamily="18" charset="0"/>
              </a:rPr>
              <a:t>Fitbit Success Stories: Explore how users achieve their fitness goals.</a:t>
            </a:r>
          </a:p>
          <a:p>
            <a:pPr marL="457200"/>
            <a:r>
              <a:rPr lang="en-IN" sz="1600" u="sng" dirty="0">
                <a:solidFill>
                  <a:srgbClr val="00B0F0"/>
                </a:solidFill>
                <a:effectLst/>
                <a:latin typeface="Georgia" panose="02040502050405020303" pitchFamily="18" charset="0"/>
                <a:ea typeface="Georgia" panose="02040502050405020303" pitchFamily="18" charset="0"/>
                <a:cs typeface="Georgia" panose="02040502050405020303" pitchFamily="18" charset="0"/>
                <a:hlinkClick r:id="rId2">
                  <a:extLst>
                    <a:ext uri="{A12FA001-AC4F-418D-AE19-62706E023703}">
                      <ahyp:hlinkClr xmlns:ahyp="http://schemas.microsoft.com/office/drawing/2018/hyperlinkcolor" val="tx"/>
                    </a:ext>
                  </a:extLst>
                </a:hlinkClick>
              </a:rPr>
              <a:t>https://community.fitbit.com/t5/Manage-Weight/Success-Stories/td-p/160007</a:t>
            </a:r>
            <a:endParaRPr lang="en-IN" sz="1600" dirty="0">
              <a:solidFill>
                <a:schemeClr val="bg1"/>
              </a:solidFill>
              <a:effectLst/>
              <a:latin typeface="Georgia" panose="02040502050405020303" pitchFamily="18" charset="0"/>
              <a:ea typeface="Georgia" panose="02040502050405020303" pitchFamily="18" charset="0"/>
              <a:cs typeface="Georgia" panose="02040502050405020303" pitchFamily="18" charset="0"/>
            </a:endParaRPr>
          </a:p>
          <a:p>
            <a:pPr marL="342900" lvl="0" indent="-342900">
              <a:buFont typeface="Arial" panose="020B0604020202020204" pitchFamily="34" charset="0"/>
              <a:buChar char="•"/>
              <a:tabLst>
                <a:tab pos="457200" algn="l"/>
              </a:tabLst>
            </a:pPr>
            <a:r>
              <a:rPr lang="en-IN" sz="1600" dirty="0">
                <a:solidFill>
                  <a:schemeClr val="bg1"/>
                </a:solidFill>
                <a:effectLst/>
                <a:latin typeface="Georgia" panose="02040502050405020303" pitchFamily="18" charset="0"/>
                <a:ea typeface="Georgia" panose="02040502050405020303" pitchFamily="18" charset="0"/>
                <a:cs typeface="Georgia" panose="02040502050405020303" pitchFamily="18" charset="0"/>
              </a:rPr>
              <a:t>MyFitnessPal Case Study: Insights into user engagement and calorie tracking </a:t>
            </a:r>
          </a:p>
          <a:p>
            <a:pPr marL="457200"/>
            <a:r>
              <a:rPr lang="en-IN" sz="1600" u="sng" dirty="0">
                <a:solidFill>
                  <a:srgbClr val="00B0F0"/>
                </a:solidFill>
                <a:effectLst/>
                <a:latin typeface="Georgia" panose="02040502050405020303" pitchFamily="18" charset="0"/>
                <a:ea typeface="Georgia" panose="02040502050405020303" pitchFamily="18" charset="0"/>
                <a:cs typeface="Georgia" panose="02040502050405020303" pitchFamily="18" charset="0"/>
                <a:hlinkClick r:id="rId3">
                  <a:extLst>
                    <a:ext uri="{A12FA001-AC4F-418D-AE19-62706E023703}">
                      <ahyp:hlinkClr xmlns:ahyp="http://schemas.microsoft.com/office/drawing/2018/hyperlinkcolor" val="tx"/>
                    </a:ext>
                  </a:extLst>
                </a:hlinkClick>
              </a:rPr>
              <a:t>https://www.myfitnesspal.com/</a:t>
            </a:r>
            <a:endParaRPr lang="en-IN" sz="1600" u="sng" dirty="0">
              <a:solidFill>
                <a:srgbClr val="00B0F0"/>
              </a:solidFill>
              <a:effectLst/>
              <a:latin typeface="Georgia" panose="02040502050405020303" pitchFamily="18" charset="0"/>
              <a:ea typeface="Georgia" panose="02040502050405020303" pitchFamily="18" charset="0"/>
              <a:cs typeface="Georgia" panose="02040502050405020303" pitchFamily="18" charset="0"/>
            </a:endParaRPr>
          </a:p>
          <a:p>
            <a:pPr marL="457200"/>
            <a:endParaRPr lang="en-IN" sz="1600" u="sng" dirty="0">
              <a:solidFill>
                <a:srgbClr val="00B0F0"/>
              </a:solidFill>
              <a:effectLst/>
              <a:latin typeface="Georgia" panose="02040502050405020303" pitchFamily="18" charset="0"/>
              <a:ea typeface="Georgia" panose="02040502050405020303" pitchFamily="18" charset="0"/>
              <a:cs typeface="Georgia" panose="02040502050405020303" pitchFamily="18" charset="0"/>
            </a:endParaRPr>
          </a:p>
          <a:p>
            <a:r>
              <a:rPr lang="en-IN" sz="1600" b="1" dirty="0">
                <a:solidFill>
                  <a:schemeClr val="bg2"/>
                </a:solidFill>
                <a:effectLst/>
                <a:latin typeface="Georgia" panose="02040502050405020303" pitchFamily="18" charset="0"/>
                <a:ea typeface="Georgia" panose="02040502050405020303" pitchFamily="18" charset="0"/>
                <a:cs typeface="Georgia" panose="02040502050405020303" pitchFamily="18" charset="0"/>
              </a:rPr>
              <a:t>Journal Articles</a:t>
            </a:r>
            <a:endParaRPr lang="en-IN" sz="1600" dirty="0">
              <a:solidFill>
                <a:schemeClr val="bg2"/>
              </a:solidFill>
              <a:effectLst/>
              <a:latin typeface="Georgia" panose="02040502050405020303" pitchFamily="18" charset="0"/>
              <a:ea typeface="Georgia" panose="02040502050405020303" pitchFamily="18" charset="0"/>
              <a:cs typeface="Georgia" panose="02040502050405020303" pitchFamily="18" charset="0"/>
            </a:endParaRPr>
          </a:p>
          <a:p>
            <a:pPr marL="342900" lvl="0" indent="-342900">
              <a:buFont typeface="Arial" panose="020B0604020202020204" pitchFamily="34" charset="0"/>
              <a:buChar char="•"/>
              <a:tabLst>
                <a:tab pos="457200" algn="l"/>
              </a:tabLst>
            </a:pPr>
            <a:r>
              <a:rPr lang="en-IN" sz="1600" dirty="0">
                <a:solidFill>
                  <a:schemeClr val="bg2"/>
                </a:solidFill>
                <a:effectLst/>
                <a:latin typeface="Georgia" panose="02040502050405020303" pitchFamily="18" charset="0"/>
                <a:ea typeface="Georgia" panose="02040502050405020303" pitchFamily="18" charset="0"/>
                <a:cs typeface="Georgia" panose="02040502050405020303" pitchFamily="18" charset="0"/>
              </a:rPr>
              <a:t>“Examining the impacts of fitness app features on user well-being”</a:t>
            </a:r>
          </a:p>
          <a:p>
            <a:pPr marL="457200"/>
            <a:r>
              <a:rPr lang="en-IN" sz="1600" u="sng" dirty="0">
                <a:solidFill>
                  <a:srgbClr val="00B0F0"/>
                </a:solidFill>
                <a:effectLst/>
                <a:latin typeface="Georgia" panose="02040502050405020303" pitchFamily="18" charset="0"/>
                <a:ea typeface="Georgia" panose="02040502050405020303" pitchFamily="18" charset="0"/>
                <a:cs typeface="Georgia" panose="02040502050405020303" pitchFamily="18" charset="0"/>
                <a:hlinkClick r:id="rId4">
                  <a:extLst>
                    <a:ext uri="{A12FA001-AC4F-418D-AE19-62706E023703}">
                      <ahyp:hlinkClr xmlns:ahyp="http://schemas.microsoft.com/office/drawing/2018/hyperlinkcolor" val="tx"/>
                    </a:ext>
                  </a:extLst>
                </a:hlinkClick>
              </a:rPr>
              <a:t>https://www.sciencedirect.com/science/article/abs/pii/S0378720623000447#:~:text=We%20show%20that%20personal%2Doriented,outcomes%20in%20a%20nuanced%20manner.</a:t>
            </a:r>
            <a:endParaRPr lang="en-IN" sz="1600" dirty="0">
              <a:solidFill>
                <a:srgbClr val="00B0F0"/>
              </a:solidFill>
              <a:effectLst/>
              <a:latin typeface="Georgia" panose="02040502050405020303" pitchFamily="18" charset="0"/>
              <a:ea typeface="Georgia" panose="02040502050405020303" pitchFamily="18" charset="0"/>
              <a:cs typeface="Georgia" panose="02040502050405020303" pitchFamily="18" charset="0"/>
            </a:endParaRPr>
          </a:p>
          <a:p>
            <a:pPr marL="457200"/>
            <a:r>
              <a:rPr lang="en-IN" sz="1600" dirty="0">
                <a:solidFill>
                  <a:srgbClr val="00B0F0"/>
                </a:solidFill>
                <a:effectLst/>
                <a:latin typeface="Georgia" panose="02040502050405020303" pitchFamily="18" charset="0"/>
                <a:ea typeface="Georgia" panose="02040502050405020303" pitchFamily="18" charset="0"/>
                <a:cs typeface="Georgia" panose="02040502050405020303" pitchFamily="18" charset="0"/>
              </a:rPr>
              <a:t> </a:t>
            </a:r>
          </a:p>
          <a:p>
            <a:pPr marL="342900" lvl="0" indent="-342900">
              <a:buFont typeface="Arial" panose="020B0604020202020204" pitchFamily="34" charset="0"/>
              <a:buChar char="•"/>
              <a:tabLst>
                <a:tab pos="457200" algn="l"/>
              </a:tabLst>
            </a:pPr>
            <a:r>
              <a:rPr lang="en-IN" sz="1600" dirty="0">
                <a:solidFill>
                  <a:schemeClr val="bg2"/>
                </a:solidFill>
                <a:effectLst/>
                <a:latin typeface="Georgia" panose="02040502050405020303" pitchFamily="18" charset="0"/>
                <a:ea typeface="Georgia" panose="02040502050405020303" pitchFamily="18" charset="0"/>
                <a:cs typeface="Georgia" panose="02040502050405020303" pitchFamily="18" charset="0"/>
              </a:rPr>
              <a:t>"Calorie counting smart phone apps: Effectiveness in nutritional awareness, lifestyle modification and weight management among young Indian adults:</a:t>
            </a:r>
            <a:br>
              <a:rPr lang="en-IN" sz="1600" dirty="0">
                <a:solidFill>
                  <a:schemeClr val="bg2"/>
                </a:solidFill>
                <a:effectLst/>
                <a:latin typeface="Georgia" panose="02040502050405020303" pitchFamily="18" charset="0"/>
                <a:ea typeface="Georgia" panose="02040502050405020303" pitchFamily="18" charset="0"/>
                <a:cs typeface="Georgia" panose="02040502050405020303" pitchFamily="18" charset="0"/>
              </a:rPr>
            </a:br>
            <a:r>
              <a:rPr lang="en-IN" sz="1600" u="sng" dirty="0">
                <a:solidFill>
                  <a:srgbClr val="00B0F0"/>
                </a:solidFill>
                <a:effectLst/>
                <a:latin typeface="Georgia" panose="02040502050405020303" pitchFamily="18" charset="0"/>
                <a:ea typeface="Georgia" panose="02040502050405020303" pitchFamily="18" charset="0"/>
                <a:cs typeface="Georgia" panose="02040502050405020303" pitchFamily="18" charset="0"/>
                <a:hlinkClick r:id="rId5">
                  <a:extLst>
                    <a:ext uri="{A12FA001-AC4F-418D-AE19-62706E023703}">
                      <ahyp:hlinkClr xmlns:ahyp="http://schemas.microsoft.com/office/drawing/2018/hyperlinkcolor" val="tx"/>
                    </a:ext>
                  </a:extLst>
                </a:hlinkClick>
              </a:rPr>
              <a:t>https://www.researchgate.net/publication/333777044_Calorie_counting_smart_phone_apps_Effectiveness_in_nutritional_awareness_lifestyle_modification_and_weight_management_among_young_Indian_adults</a:t>
            </a:r>
            <a:endParaRPr lang="en-IN" sz="1600" dirty="0">
              <a:solidFill>
                <a:srgbClr val="00B0F0"/>
              </a:solidFill>
              <a:effectLst/>
              <a:latin typeface="Georgia" panose="02040502050405020303" pitchFamily="18" charset="0"/>
              <a:ea typeface="Georgia" panose="02040502050405020303" pitchFamily="18" charset="0"/>
              <a:cs typeface="Georgia" panose="02040502050405020303"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bg1"/>
              </a:solidFill>
              <a:effectLst/>
            </a:endParaRPr>
          </a:p>
        </p:txBody>
      </p:sp>
      <p:pic>
        <p:nvPicPr>
          <p:cNvPr id="2050" name="Picture 2" descr="Fitbit's Success Story | by IAF | Medium">
            <a:extLst>
              <a:ext uri="{FF2B5EF4-FFF2-40B4-BE49-F238E27FC236}">
                <a16:creationId xmlns:a16="http://schemas.microsoft.com/office/drawing/2014/main" id="{2B17838B-A86B-A822-CBB3-410C4A8E02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34273" y="1531263"/>
            <a:ext cx="1877438" cy="139580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Francisco Partners To Acquire MyFitnessPal from Under Armour - FinSMEs">
            <a:extLst>
              <a:ext uri="{FF2B5EF4-FFF2-40B4-BE49-F238E27FC236}">
                <a16:creationId xmlns:a16="http://schemas.microsoft.com/office/drawing/2014/main" id="{6E9BDD64-F256-F258-7E2B-BFE986E488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13260" y="3574916"/>
            <a:ext cx="2519464" cy="2067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44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8" name="Rectangle 37">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9"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41" name="Rectangle 40">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3" name="Freeform 5">
            <a:extLst>
              <a:ext uri="{FF2B5EF4-FFF2-40B4-BE49-F238E27FC236}">
                <a16:creationId xmlns:a16="http://schemas.microsoft.com/office/drawing/2014/main" id="{D22D1B95-2B54-43E9-85D9-B489F6C5D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
        <p:nvSpPr>
          <p:cNvPr id="45" name="Freeform 5">
            <a:extLst>
              <a:ext uri="{FF2B5EF4-FFF2-40B4-BE49-F238E27FC236}">
                <a16:creationId xmlns:a16="http://schemas.microsoft.com/office/drawing/2014/main" id="{7D0F3F6D-A49D-4406-8D61-1C4F8D792F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IN"/>
          </a:p>
        </p:txBody>
      </p:sp>
      <p:sp>
        <p:nvSpPr>
          <p:cNvPr id="47" name="Freeform 5">
            <a:extLst>
              <a:ext uri="{FF2B5EF4-FFF2-40B4-BE49-F238E27FC236}">
                <a16:creationId xmlns:a16="http://schemas.microsoft.com/office/drawing/2014/main" id="{D953A318-DA8D-4405-9536-D889E45C5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sp>
        <p:nvSpPr>
          <p:cNvPr id="49" name="Rectangle 48">
            <a:extLst>
              <a:ext uri="{FF2B5EF4-FFF2-40B4-BE49-F238E27FC236}">
                <a16:creationId xmlns:a16="http://schemas.microsoft.com/office/drawing/2014/main" id="{9E382A3D-2F90-475C-8DF2-F666FEA34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C755194A-DDF6-3FEA-D23D-ED5960A47974}"/>
              </a:ext>
            </a:extLst>
          </p:cNvPr>
          <p:cNvSpPr>
            <a:spLocks noGrp="1"/>
          </p:cNvSpPr>
          <p:nvPr>
            <p:ph type="title"/>
          </p:nvPr>
        </p:nvSpPr>
        <p:spPr>
          <a:xfrm>
            <a:off x="1683171" y="1143000"/>
            <a:ext cx="8825658" cy="3389217"/>
          </a:xfrm>
        </p:spPr>
        <p:txBody>
          <a:bodyPr vert="horz" lIns="91440" tIns="45720" rIns="91440" bIns="45720" rtlCol="0" anchor="ctr">
            <a:normAutofit/>
          </a:bodyPr>
          <a:lstStyle/>
          <a:p>
            <a:pPr algn="ctr"/>
            <a:r>
              <a:rPr lang="en-US" sz="8000" dirty="0">
                <a:solidFill>
                  <a:schemeClr val="bg1"/>
                </a:solidFill>
              </a:rPr>
              <a:t>THANK YOU</a:t>
            </a:r>
          </a:p>
        </p:txBody>
      </p:sp>
      <p:sp>
        <p:nvSpPr>
          <p:cNvPr id="4" name="TextBox 3">
            <a:extLst>
              <a:ext uri="{FF2B5EF4-FFF2-40B4-BE49-F238E27FC236}">
                <a16:creationId xmlns:a16="http://schemas.microsoft.com/office/drawing/2014/main" id="{BCC69F39-9E52-74CF-EF03-7B2B9DFEE9D2}"/>
              </a:ext>
            </a:extLst>
          </p:cNvPr>
          <p:cNvSpPr txBox="1"/>
          <p:nvPr/>
        </p:nvSpPr>
        <p:spPr>
          <a:xfrm>
            <a:off x="7933284" y="5419591"/>
            <a:ext cx="4414740" cy="923330"/>
          </a:xfrm>
          <a:prstGeom prst="rect">
            <a:avLst/>
          </a:prstGeom>
          <a:noFill/>
        </p:spPr>
        <p:txBody>
          <a:bodyPr wrap="square">
            <a:spAutoFit/>
          </a:bodyPr>
          <a:lstStyle/>
          <a:p>
            <a:r>
              <a:rPr lang="en-GB" b="1" dirty="0">
                <a:solidFill>
                  <a:schemeClr val="tx1">
                    <a:lumMod val="85000"/>
                    <a:lumOff val="15000"/>
                  </a:schemeClr>
                </a:solidFill>
              </a:rPr>
              <a:t>23071A6774- B. Renu </a:t>
            </a:r>
            <a:r>
              <a:rPr lang="en-GB" b="1" dirty="0" err="1">
                <a:solidFill>
                  <a:schemeClr val="tx1">
                    <a:lumMod val="85000"/>
                    <a:lumOff val="15000"/>
                  </a:schemeClr>
                </a:solidFill>
              </a:rPr>
              <a:t>Tanmayi</a:t>
            </a:r>
            <a:endParaRPr lang="en-US" b="1" dirty="0">
              <a:solidFill>
                <a:schemeClr val="tx1">
                  <a:lumMod val="85000"/>
                  <a:lumOff val="15000"/>
                </a:schemeClr>
              </a:solidFill>
            </a:endParaRPr>
          </a:p>
          <a:p>
            <a:r>
              <a:rPr lang="en-GB" b="1" dirty="0">
                <a:solidFill>
                  <a:schemeClr val="tx1">
                    <a:lumMod val="85000"/>
                    <a:lumOff val="15000"/>
                  </a:schemeClr>
                </a:solidFill>
              </a:rPr>
              <a:t>23071A67A5- M. Meghana</a:t>
            </a:r>
          </a:p>
          <a:p>
            <a:r>
              <a:rPr lang="en-GB" b="1" dirty="0">
                <a:solidFill>
                  <a:schemeClr val="tx1">
                    <a:lumMod val="85000"/>
                    <a:lumOff val="15000"/>
                  </a:schemeClr>
                </a:solidFill>
              </a:rPr>
              <a:t>23071A67B4- S. Nithya</a:t>
            </a:r>
          </a:p>
        </p:txBody>
      </p:sp>
    </p:spTree>
    <p:extLst>
      <p:ext uri="{BB962C8B-B14F-4D97-AF65-F5344CB8AC3E}">
        <p14:creationId xmlns:p14="http://schemas.microsoft.com/office/powerpoint/2010/main" val="21410825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146</TotalTime>
  <Words>941</Words>
  <Application>Microsoft Office PowerPoint</Application>
  <PresentationFormat>Widescreen</PresentationFormat>
  <Paragraphs>102</Paragraphs>
  <Slides>16</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ADLaM Display</vt:lpstr>
      <vt:lpstr>Aptos</vt:lpstr>
      <vt:lpstr>Arial</vt:lpstr>
      <vt:lpstr>Century Gothic</vt:lpstr>
      <vt:lpstr>Georgia</vt:lpstr>
      <vt:lpstr>Lucida Handwriting</vt:lpstr>
      <vt:lpstr>Wingdings</vt:lpstr>
      <vt:lpstr>Wingdings 3</vt:lpstr>
      <vt:lpstr>Ion Boardroom</vt:lpstr>
      <vt:lpstr>FitZeal</vt:lpstr>
      <vt:lpstr>ABSTRACT</vt:lpstr>
      <vt:lpstr>PowerPoint Presentation</vt:lpstr>
      <vt:lpstr>  METHODOLOGY</vt:lpstr>
      <vt:lpstr>PowerPoint Presentation</vt:lpstr>
      <vt:lpstr>PowerPoint Presentation</vt:lpstr>
      <vt:lpstr>Software Requirements</vt:lpstr>
      <vt:lpstr>Software Requirements</vt:lpstr>
      <vt:lpstr>Hardware Requirements</vt:lpstr>
      <vt:lpstr>PowerPoint Presentation</vt:lpstr>
      <vt:lpstr>PowerPoint Presentation</vt:lpstr>
      <vt:lpstr>PowerPoint Presentation</vt:lpstr>
      <vt:lpstr>What makes FitZeal Unique</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FitZeal</dc:title>
  <dc:creator>Nithya Siripurapu</dc:creator>
  <cp:lastModifiedBy>RENU TANMAYI REDDY BHEEMAVARAPU</cp:lastModifiedBy>
  <cp:revision>3</cp:revision>
  <dcterms:created xsi:type="dcterms:W3CDTF">2024-08-29T15:07:18Z</dcterms:created>
  <dcterms:modified xsi:type="dcterms:W3CDTF">2024-11-22T06:58:07Z</dcterms:modified>
</cp:coreProperties>
</file>